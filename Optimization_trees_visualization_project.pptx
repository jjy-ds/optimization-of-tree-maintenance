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4"/>
  </p:sldMasterIdLst>
  <p:notesMasterIdLst>
    <p:notesMasterId r:id="rId55"/>
  </p:notesMasterIdLst>
  <p:sldIdLst>
    <p:sldId id="256" r:id="rId5"/>
    <p:sldId id="299" r:id="rId6"/>
    <p:sldId id="257" r:id="rId7"/>
    <p:sldId id="300" r:id="rId8"/>
    <p:sldId id="293" r:id="rId9"/>
    <p:sldId id="258" r:id="rId10"/>
    <p:sldId id="259" r:id="rId11"/>
    <p:sldId id="263" r:id="rId12"/>
    <p:sldId id="262" r:id="rId13"/>
    <p:sldId id="261" r:id="rId14"/>
    <p:sldId id="264" r:id="rId15"/>
    <p:sldId id="265" r:id="rId16"/>
    <p:sldId id="292" r:id="rId17"/>
    <p:sldId id="266" r:id="rId18"/>
    <p:sldId id="268" r:id="rId19"/>
    <p:sldId id="260" r:id="rId20"/>
    <p:sldId id="294" r:id="rId21"/>
    <p:sldId id="267" r:id="rId22"/>
    <p:sldId id="271" r:id="rId23"/>
    <p:sldId id="301" r:id="rId24"/>
    <p:sldId id="272" r:id="rId25"/>
    <p:sldId id="302" r:id="rId26"/>
    <p:sldId id="269" r:id="rId27"/>
    <p:sldId id="270" r:id="rId28"/>
    <p:sldId id="273" r:id="rId29"/>
    <p:sldId id="286" r:id="rId30"/>
    <p:sldId id="287" r:id="rId31"/>
    <p:sldId id="274" r:id="rId32"/>
    <p:sldId id="288" r:id="rId33"/>
    <p:sldId id="306" r:id="rId34"/>
    <p:sldId id="275" r:id="rId35"/>
    <p:sldId id="276" r:id="rId36"/>
    <p:sldId id="289" r:id="rId37"/>
    <p:sldId id="290" r:id="rId38"/>
    <p:sldId id="277" r:id="rId39"/>
    <p:sldId id="278" r:id="rId40"/>
    <p:sldId id="307" r:id="rId41"/>
    <p:sldId id="296" r:id="rId42"/>
    <p:sldId id="297" r:id="rId43"/>
    <p:sldId id="279" r:id="rId44"/>
    <p:sldId id="280" r:id="rId45"/>
    <p:sldId id="281" r:id="rId46"/>
    <p:sldId id="282" r:id="rId47"/>
    <p:sldId id="283" r:id="rId48"/>
    <p:sldId id="295" r:id="rId49"/>
    <p:sldId id="284" r:id="rId50"/>
    <p:sldId id="285" r:id="rId51"/>
    <p:sldId id="303" r:id="rId52"/>
    <p:sldId id="298" r:id="rId53"/>
    <p:sldId id="304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0812" autoAdjust="0"/>
  </p:normalViewPr>
  <p:slideViewPr>
    <p:cSldViewPr snapToGrid="0">
      <p:cViewPr varScale="1">
        <p:scale>
          <a:sx n="102" d="100"/>
          <a:sy n="102" d="100"/>
        </p:scale>
        <p:origin x="89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y Pabbi" userId="c7d4fc2bd0f94ae9" providerId="LiveId" clId="{C98C3598-53EE-4175-89EE-8855B02536E5}"/>
    <pc:docChg chg="modSld">
      <pc:chgData name="Harry Pabbi" userId="c7d4fc2bd0f94ae9" providerId="LiveId" clId="{C98C3598-53EE-4175-89EE-8855B02536E5}" dt="2025-11-18T10:00:08.273" v="43" actId="20577"/>
      <pc:docMkLst>
        <pc:docMk/>
      </pc:docMkLst>
      <pc:sldChg chg="modSp mod">
        <pc:chgData name="Harry Pabbi" userId="c7d4fc2bd0f94ae9" providerId="LiveId" clId="{C98C3598-53EE-4175-89EE-8855B02536E5}" dt="2025-11-18T10:00:08.273" v="43" actId="20577"/>
        <pc:sldMkLst>
          <pc:docMk/>
          <pc:sldMk cId="731040420" sldId="256"/>
        </pc:sldMkLst>
        <pc:spChg chg="mod">
          <ac:chgData name="Harry Pabbi" userId="c7d4fc2bd0f94ae9" providerId="LiveId" clId="{C98C3598-53EE-4175-89EE-8855B02536E5}" dt="2025-11-18T10:00:08.273" v="43" actId="20577"/>
          <ac:spMkLst>
            <pc:docMk/>
            <pc:sldMk cId="73104042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7C28E-E025-4BA5-860D-63F7866C3AB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8576D-6C60-4724-9849-77BF6A73B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5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2717E1B-F80C-45C7-97F5-DFF67F11D7EF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0B81-0142-4055-9F9E-694B73B731DF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1F3A-7031-4ECA-AAF6-31BF95BB1E78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49C5-7CA9-409A-BCB8-49DC9470BB90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7CB7-ABDE-4311-902E-69884EB68385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06501-D410-48EC-A641-F3F8DB095C45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B6469-AD14-4E6E-AC76-DB7F90EC9274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EFAA-CDAE-4454-A40F-790C87A99C66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C299-3A65-4362-AD64-B66AE7CCD79B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092D-72F9-4F75-B912-CF134538145D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FCA9-4F11-4EA9-87FA-1F7DDD2F3439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F96A3C91-0F60-4F1F-9507-644509ABA5DB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MSIPCMContentMarking" descr="{&quot;HashCode&quot;:1319653229,&quot;Placement&quot;:&quot;Footer&quot;,&quot;Top&quot;:519.343,&quot;Left&quot;:844.5204,&quot;SlideWidth&quot;:960,&quot;SlideHeight&quot;:540}"/>
          <p:cNvSpPr txBox="1"/>
          <p:nvPr userDrawn="1"/>
        </p:nvSpPr>
        <p:spPr>
          <a:xfrm>
            <a:off x="10725409" y="6595656"/>
            <a:ext cx="1466591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78D7"/>
                </a:solidFill>
                <a:latin typeface="Calibri" panose="020F0502020204030204" pitchFamily="34" charset="0"/>
              </a:rPr>
              <a:t>Classification : 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2182656"/>
          </a:xfrm>
        </p:spPr>
        <p:txBody>
          <a:bodyPr anchor="t"/>
          <a:lstStyle/>
          <a:p>
            <a:r>
              <a:rPr lang="de-DE" dirty="0"/>
              <a:t>Optimization of tree maintenance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 sz="3600" dirty="0" err="1"/>
              <a:t>Prepared</a:t>
            </a:r>
            <a:r>
              <a:rPr lang="de-DE" sz="3600" dirty="0"/>
              <a:t> </a:t>
            </a:r>
            <a:r>
              <a:rPr lang="de-DE" sz="3600" dirty="0" err="1"/>
              <a:t>by</a:t>
            </a:r>
            <a:r>
              <a:rPr lang="de-DE" sz="3600" dirty="0"/>
              <a:t>: Dr. Jyoti </a:t>
            </a:r>
          </a:p>
        </p:txBody>
      </p:sp>
    </p:spTree>
    <p:extLst>
      <p:ext uri="{BB962C8B-B14F-4D97-AF65-F5344CB8AC3E}">
        <p14:creationId xmlns:p14="http://schemas.microsoft.com/office/powerpoint/2010/main" val="731040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500332"/>
            <a:ext cx="9608791" cy="1070220"/>
          </a:xfrm>
        </p:spPr>
        <p:txBody>
          <a:bodyPr>
            <a:normAutofit/>
          </a:bodyPr>
          <a:lstStyle/>
          <a:p>
            <a:r>
              <a:rPr lang="de-DE" sz="3200" dirty="0"/>
              <a:t>AGENDA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915065"/>
            <a:ext cx="8595360" cy="4351337"/>
          </a:xfrm>
        </p:spPr>
        <p:txBody>
          <a:bodyPr>
            <a:normAutofit lnSpcReduction="10000"/>
          </a:bodyPr>
          <a:lstStyle/>
          <a:p>
            <a:r>
              <a:rPr lang="de-DE" sz="2400" dirty="0"/>
              <a:t>OBJECTIVE </a:t>
            </a:r>
          </a:p>
          <a:p>
            <a:r>
              <a:rPr lang="de-DE" sz="2400" dirty="0"/>
              <a:t>METHODOLOGY</a:t>
            </a:r>
          </a:p>
          <a:p>
            <a:r>
              <a:rPr lang="de-DE" sz="2400" dirty="0"/>
              <a:t>EDA (EXPLORATORY DATA ANALYSIS)</a:t>
            </a:r>
          </a:p>
          <a:p>
            <a:pPr lvl="1"/>
            <a:r>
              <a:rPr lang="de-DE" sz="2200" dirty="0"/>
              <a:t>OBSERVATIONS</a:t>
            </a:r>
          </a:p>
          <a:p>
            <a:r>
              <a:rPr lang="de-DE" sz="2400" dirty="0"/>
              <a:t>UNIVARIATE STATISTICAL ANALYSIS</a:t>
            </a:r>
          </a:p>
          <a:p>
            <a:r>
              <a:rPr lang="de-DE" sz="2400" dirty="0"/>
              <a:t>VISUALIZATIONS</a:t>
            </a:r>
          </a:p>
          <a:p>
            <a:r>
              <a:rPr lang="de-DE" sz="2400" dirty="0"/>
              <a:t>INFERENCE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96607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875" y="362309"/>
            <a:ext cx="9807637" cy="1329013"/>
          </a:xfrm>
        </p:spPr>
        <p:txBody>
          <a:bodyPr>
            <a:normAutofit/>
          </a:bodyPr>
          <a:lstStyle/>
          <a:p>
            <a:r>
              <a:rPr lang="de-DE" sz="3200" dirty="0"/>
              <a:t>OBJECTIVE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6875" y="1975449"/>
            <a:ext cx="9472241" cy="4442604"/>
          </a:xfrm>
        </p:spPr>
        <p:txBody>
          <a:bodyPr>
            <a:normAutofit/>
          </a:bodyPr>
          <a:lstStyle/>
          <a:p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optimize</a:t>
            </a:r>
            <a:r>
              <a:rPr lang="de-DE" sz="2400" dirty="0"/>
              <a:t> </a:t>
            </a:r>
            <a:r>
              <a:rPr lang="de-DE" sz="2400" dirty="0" err="1"/>
              <a:t>tree</a:t>
            </a:r>
            <a:r>
              <a:rPr lang="de-DE" sz="2400" dirty="0"/>
              <a:t> </a:t>
            </a:r>
            <a:r>
              <a:rPr lang="de-DE" sz="2400" dirty="0" err="1"/>
              <a:t>maintainence</a:t>
            </a:r>
            <a:r>
              <a:rPr lang="de-DE" sz="2400" dirty="0"/>
              <a:t> in Paris</a:t>
            </a:r>
          </a:p>
        </p:txBody>
      </p:sp>
    </p:spTree>
    <p:extLst>
      <p:ext uri="{BB962C8B-B14F-4D97-AF65-F5344CB8AC3E}">
        <p14:creationId xmlns:p14="http://schemas.microsoft.com/office/powerpoint/2010/main" val="3239629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41872"/>
            <a:ext cx="9582912" cy="742416"/>
          </a:xfrm>
        </p:spPr>
        <p:txBody>
          <a:bodyPr>
            <a:normAutofit/>
          </a:bodyPr>
          <a:lstStyle/>
          <a:p>
            <a:r>
              <a:rPr lang="de-DE" sz="3200" dirty="0"/>
              <a:t>METHODOLOGY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828800"/>
            <a:ext cx="8184053" cy="4351337"/>
          </a:xfrm>
        </p:spPr>
        <p:txBody>
          <a:bodyPr/>
          <a:lstStyle/>
          <a:p>
            <a:pPr algn="just"/>
            <a:r>
              <a:rPr lang="de-DE" dirty="0" err="1"/>
              <a:t>Tree</a:t>
            </a:r>
            <a:r>
              <a:rPr lang="de-DE" dirty="0"/>
              <a:t> </a:t>
            </a:r>
            <a:r>
              <a:rPr lang="de-DE" dirty="0" err="1"/>
              <a:t>maintainence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optimized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concentrate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growth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trees</a:t>
            </a:r>
            <a:r>
              <a:rPr lang="de-DE" dirty="0"/>
              <a:t> i.e.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development_stage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trees</a:t>
            </a:r>
            <a:r>
              <a:rPr lang="de-DE" dirty="0"/>
              <a:t>. Young </a:t>
            </a:r>
            <a:r>
              <a:rPr lang="de-DE" dirty="0" err="1"/>
              <a:t>trees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maximum</a:t>
            </a:r>
            <a:r>
              <a:rPr lang="de-DE" dirty="0"/>
              <a:t> care, Young </a:t>
            </a:r>
            <a:r>
              <a:rPr lang="de-DE" dirty="0" err="1"/>
              <a:t>adults</a:t>
            </a:r>
            <a:r>
              <a:rPr lang="de-DE" dirty="0"/>
              <a:t> like </a:t>
            </a:r>
            <a:r>
              <a:rPr lang="de-DE" dirty="0" err="1"/>
              <a:t>adoloscents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shaped</a:t>
            </a:r>
            <a:r>
              <a:rPr lang="de-DE" dirty="0"/>
              <a:t> .</a:t>
            </a:r>
            <a:r>
              <a:rPr lang="de-DE" dirty="0" err="1"/>
              <a:t>Trees</a:t>
            </a:r>
            <a:r>
              <a:rPr lang="de-DE" dirty="0"/>
              <a:t> in Adult </a:t>
            </a:r>
            <a:r>
              <a:rPr lang="de-DE" dirty="0" err="1"/>
              <a:t>phase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care. </a:t>
            </a:r>
            <a:r>
              <a:rPr lang="de-DE" dirty="0" err="1"/>
              <a:t>Mature</a:t>
            </a:r>
            <a:r>
              <a:rPr lang="de-DE" dirty="0"/>
              <a:t> </a:t>
            </a:r>
            <a:r>
              <a:rPr lang="de-DE" dirty="0" err="1"/>
              <a:t>trees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checked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base.The</a:t>
            </a:r>
            <a:r>
              <a:rPr lang="de-DE" dirty="0"/>
              <a:t> </a:t>
            </a:r>
            <a:r>
              <a:rPr lang="de-DE" dirty="0" err="1"/>
              <a:t>growth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trees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circumference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height</a:t>
            </a:r>
            <a:r>
              <a:rPr lang="de-DE" dirty="0"/>
              <a:t>(</a:t>
            </a:r>
            <a:r>
              <a:rPr lang="de-DE" dirty="0" err="1"/>
              <a:t>used</a:t>
            </a:r>
            <a:r>
              <a:rPr lang="de-DE" dirty="0"/>
              <a:t> in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).</a:t>
            </a:r>
            <a:r>
              <a:rPr lang="de-DE" dirty="0" err="1"/>
              <a:t>Increasing</a:t>
            </a:r>
            <a:r>
              <a:rPr lang="de-DE" dirty="0"/>
              <a:t> </a:t>
            </a:r>
            <a:r>
              <a:rPr lang="de-DE" dirty="0" err="1"/>
              <a:t>circumference</a:t>
            </a:r>
            <a:r>
              <a:rPr lang="de-DE" dirty="0"/>
              <a:t> </a:t>
            </a:r>
            <a:r>
              <a:rPr lang="de-DE" dirty="0" err="1"/>
              <a:t>tells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development</a:t>
            </a:r>
            <a:r>
              <a:rPr lang="de-DE" dirty="0"/>
              <a:t> </a:t>
            </a:r>
            <a:r>
              <a:rPr lang="de-DE" dirty="0" err="1"/>
              <a:t>stage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tree.On</a:t>
            </a:r>
            <a:r>
              <a:rPr lang="de-DE" dirty="0"/>
              <a:t> </a:t>
            </a:r>
            <a:r>
              <a:rPr lang="de-DE" dirty="0" err="1"/>
              <a:t>analysing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parameters,we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plan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optimize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visits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tree</a:t>
            </a:r>
            <a:r>
              <a:rPr lang="de-DE" dirty="0"/>
              <a:t> </a:t>
            </a:r>
            <a:r>
              <a:rPr lang="de-DE" dirty="0" err="1"/>
              <a:t>maintainence</a:t>
            </a:r>
            <a:r>
              <a:rPr lang="de-DE" dirty="0"/>
              <a:t>. </a:t>
            </a:r>
          </a:p>
          <a:p>
            <a:pPr algn="just"/>
            <a:endParaRPr lang="de-DE" dirty="0"/>
          </a:p>
          <a:p>
            <a:pPr marL="0" indent="0" algn="just">
              <a:buNone/>
            </a:pPr>
            <a:r>
              <a:rPr lang="de-DE" dirty="0"/>
              <a:t>  Reference: https://www.arborday.org/trees/lifestages/youth.cfm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693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361" y="2192331"/>
            <a:ext cx="9692640" cy="1325562"/>
          </a:xfrm>
        </p:spPr>
        <p:txBody>
          <a:bodyPr/>
          <a:lstStyle/>
          <a:p>
            <a:pPr algn="ctr"/>
            <a:r>
              <a:rPr lang="de-DE" dirty="0">
                <a:latin typeface="Algerian" panose="04020705040A02060702" pitchFamily="82" charset="0"/>
              </a:rPr>
              <a:t>EXPLORATORY Data ANALYSIS</a:t>
            </a:r>
            <a:endParaRPr lang="en-US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963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836" y="353684"/>
            <a:ext cx="9557970" cy="785548"/>
          </a:xfrm>
        </p:spPr>
        <p:txBody>
          <a:bodyPr>
            <a:normAutofit/>
          </a:bodyPr>
          <a:lstStyle/>
          <a:p>
            <a:r>
              <a:rPr lang="de-DE" sz="3200" dirty="0"/>
              <a:t>Data: Columns </a:t>
            </a:r>
            <a:r>
              <a:rPr lang="de-DE" sz="3200" dirty="0" err="1"/>
              <a:t>and</a:t>
            </a:r>
            <a:r>
              <a:rPr lang="de-DE" sz="3200" dirty="0"/>
              <a:t> </a:t>
            </a:r>
            <a:r>
              <a:rPr lang="de-DE" sz="3200" dirty="0" err="1"/>
              <a:t>Rows</a:t>
            </a:r>
            <a:r>
              <a:rPr lang="de-DE" sz="3200" dirty="0"/>
              <a:t> 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36" y="1484288"/>
            <a:ext cx="747712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866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02" y="-127965"/>
            <a:ext cx="2852149" cy="628295"/>
          </a:xfrm>
        </p:spPr>
        <p:txBody>
          <a:bodyPr>
            <a:normAutofit/>
          </a:bodyPr>
          <a:lstStyle/>
          <a:p>
            <a:r>
              <a:rPr lang="de-DE" sz="2800" dirty="0"/>
              <a:t>Data</a:t>
            </a:r>
            <a:endParaRPr lang="en-US" sz="28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3742907"/>
              </p:ext>
            </p:extLst>
          </p:nvPr>
        </p:nvGraphicFramePr>
        <p:xfrm>
          <a:off x="819510" y="500330"/>
          <a:ext cx="9756475" cy="627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9369">
                  <a:extLst>
                    <a:ext uri="{9D8B030D-6E8A-4147-A177-3AD203B41FA5}">
                      <a16:colId xmlns:a16="http://schemas.microsoft.com/office/drawing/2014/main" val="2485977505"/>
                    </a:ext>
                  </a:extLst>
                </a:gridCol>
                <a:gridCol w="3170315">
                  <a:extLst>
                    <a:ext uri="{9D8B030D-6E8A-4147-A177-3AD203B41FA5}">
                      <a16:colId xmlns:a16="http://schemas.microsoft.com/office/drawing/2014/main" val="1467553797"/>
                    </a:ext>
                  </a:extLst>
                </a:gridCol>
                <a:gridCol w="2536791">
                  <a:extLst>
                    <a:ext uri="{9D8B030D-6E8A-4147-A177-3AD203B41FA5}">
                      <a16:colId xmlns:a16="http://schemas.microsoft.com/office/drawing/2014/main" val="2288487189"/>
                    </a:ext>
                  </a:extLst>
                </a:gridCol>
              </a:tblGrid>
              <a:tr h="348812">
                <a:tc>
                  <a:txBody>
                    <a:bodyPr/>
                    <a:lstStyle/>
                    <a:p>
                      <a:r>
                        <a:rPr lang="de-DE" dirty="0"/>
                        <a:t>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No</a:t>
                      </a:r>
                      <a:r>
                        <a:rPr lang="de-DE" dirty="0"/>
                        <a:t>. </a:t>
                      </a:r>
                      <a:r>
                        <a:rPr lang="de-DE" dirty="0" err="1"/>
                        <a:t>of</a:t>
                      </a:r>
                      <a:r>
                        <a:rPr lang="de-DE" baseline="0" dirty="0"/>
                        <a:t> </a:t>
                      </a:r>
                      <a:r>
                        <a:rPr lang="de-DE" dirty="0" err="1"/>
                        <a:t>nulls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784421"/>
                  </a:ext>
                </a:extLst>
              </a:tr>
              <a:tr h="290677">
                <a:tc>
                  <a:txBody>
                    <a:bodyPr/>
                    <a:lstStyle/>
                    <a:p>
                      <a:r>
                        <a:rPr lang="de-DE" sz="1400" dirty="0" err="1"/>
                        <a:t>Id</a:t>
                      </a:r>
                      <a:r>
                        <a:rPr lang="de-DE" sz="1400" dirty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Quantitative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14203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185569"/>
                  </a:ext>
                </a:extLst>
              </a:tr>
              <a:tr h="290677">
                <a:tc>
                  <a:txBody>
                    <a:bodyPr/>
                    <a:lstStyle/>
                    <a:p>
                      <a:r>
                        <a:rPr lang="de-DE" sz="1400" dirty="0" err="1"/>
                        <a:t>Location_type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Quantitative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14203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520716"/>
                  </a:ext>
                </a:extLst>
              </a:tr>
              <a:tr h="290677">
                <a:tc>
                  <a:txBody>
                    <a:bodyPr/>
                    <a:lstStyle/>
                    <a:p>
                      <a:r>
                        <a:rPr lang="de-DE" sz="1400" dirty="0"/>
                        <a:t>Domain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Qualitative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14204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41338"/>
                  </a:ext>
                </a:extLst>
              </a:tr>
              <a:tr h="290677">
                <a:tc>
                  <a:txBody>
                    <a:bodyPr/>
                    <a:lstStyle/>
                    <a:p>
                      <a:r>
                        <a:rPr lang="de-DE" sz="1400" dirty="0"/>
                        <a:t>Arrondissement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Qualitative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932677"/>
                  </a:ext>
                </a:extLst>
              </a:tr>
              <a:tr h="290677">
                <a:tc>
                  <a:txBody>
                    <a:bodyPr/>
                    <a:lstStyle/>
                    <a:p>
                      <a:r>
                        <a:rPr lang="de-DE" sz="1400" dirty="0" err="1"/>
                        <a:t>Additional_address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Qualitative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183438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818927"/>
                  </a:ext>
                </a:extLst>
              </a:tr>
              <a:tr h="290677">
                <a:tc>
                  <a:txBody>
                    <a:bodyPr/>
                    <a:lstStyle/>
                    <a:p>
                      <a:r>
                        <a:rPr lang="de-DE" sz="1400" dirty="0" err="1"/>
                        <a:t>Street</a:t>
                      </a:r>
                      <a:r>
                        <a:rPr lang="de-DE" sz="1400" baseline="0" dirty="0" err="1"/>
                        <a:t>_number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Quantitative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214340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373417"/>
                  </a:ext>
                </a:extLst>
              </a:tr>
              <a:tr h="290677">
                <a:tc>
                  <a:txBody>
                    <a:bodyPr/>
                    <a:lstStyle/>
                    <a:p>
                      <a:r>
                        <a:rPr lang="de-DE" sz="1400" dirty="0" err="1"/>
                        <a:t>Street_location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Qualitative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14203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207735"/>
                  </a:ext>
                </a:extLst>
              </a:tr>
              <a:tr h="290677">
                <a:tc>
                  <a:txBody>
                    <a:bodyPr/>
                    <a:lstStyle/>
                    <a:p>
                      <a:r>
                        <a:rPr lang="de-DE" sz="1400" dirty="0" err="1"/>
                        <a:t>Id_location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err="1"/>
                        <a:t>Number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14203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772420"/>
                  </a:ext>
                </a:extLst>
              </a:tr>
              <a:tr h="290677">
                <a:tc>
                  <a:txBody>
                    <a:bodyPr/>
                    <a:lstStyle/>
                    <a:p>
                      <a:r>
                        <a:rPr lang="de-DE" sz="1400" dirty="0" err="1"/>
                        <a:t>Tree_name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Qualitative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15700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122613"/>
                  </a:ext>
                </a:extLst>
              </a:tr>
              <a:tr h="494150">
                <a:tc>
                  <a:txBody>
                    <a:bodyPr/>
                    <a:lstStyle/>
                    <a:p>
                      <a:r>
                        <a:rPr lang="de-DE" sz="1400" dirty="0" err="1"/>
                        <a:t>Tree_type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/>
                        <a:t>Qualitative</a:t>
                      </a: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14219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633004"/>
                  </a:ext>
                </a:extLst>
              </a:tr>
              <a:tr h="494150">
                <a:tc>
                  <a:txBody>
                    <a:bodyPr/>
                    <a:lstStyle/>
                    <a:p>
                      <a:r>
                        <a:rPr lang="de-DE" sz="1400" dirty="0" err="1"/>
                        <a:t>Tree_specie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/>
                        <a:t>Qualitative</a:t>
                      </a: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15955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63261"/>
                  </a:ext>
                </a:extLst>
              </a:tr>
              <a:tr h="290677">
                <a:tc>
                  <a:txBody>
                    <a:bodyPr/>
                    <a:lstStyle/>
                    <a:p>
                      <a:r>
                        <a:rPr lang="de-DE" sz="1400" dirty="0" err="1"/>
                        <a:t>Variety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err="1"/>
                        <a:t>nulls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177563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44172"/>
                  </a:ext>
                </a:extLst>
              </a:tr>
              <a:tr h="290677">
                <a:tc>
                  <a:txBody>
                    <a:bodyPr/>
                    <a:lstStyle/>
                    <a:p>
                      <a:r>
                        <a:rPr lang="de-DE" sz="1400" dirty="0" err="1"/>
                        <a:t>Circumference_cm</a:t>
                      </a:r>
                      <a:r>
                        <a:rPr lang="de-DE" sz="1400" dirty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Quantitative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249507"/>
                  </a:ext>
                </a:extLst>
              </a:tr>
              <a:tr h="290677">
                <a:tc>
                  <a:txBody>
                    <a:bodyPr/>
                    <a:lstStyle/>
                    <a:p>
                      <a:r>
                        <a:rPr lang="de-DE" sz="1400" dirty="0" err="1"/>
                        <a:t>Height_m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Quantitative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14203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547839"/>
                  </a:ext>
                </a:extLst>
              </a:tr>
              <a:tr h="290677">
                <a:tc>
                  <a:txBody>
                    <a:bodyPr/>
                    <a:lstStyle/>
                    <a:p>
                      <a:r>
                        <a:rPr lang="de-DE" sz="1400" dirty="0" err="1"/>
                        <a:t>Development_stage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Quantitative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81408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307268"/>
                  </a:ext>
                </a:extLst>
              </a:tr>
              <a:tr h="290677">
                <a:tc>
                  <a:txBody>
                    <a:bodyPr/>
                    <a:lstStyle/>
                    <a:p>
                      <a:r>
                        <a:rPr lang="de-DE" sz="1400" dirty="0"/>
                        <a:t>Outstanding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Boolean/Quantitative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77301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923274"/>
                  </a:ext>
                </a:extLst>
              </a:tr>
              <a:tr h="290677">
                <a:tc>
                  <a:txBody>
                    <a:bodyPr/>
                    <a:lstStyle/>
                    <a:p>
                      <a:r>
                        <a:rPr lang="de-DE" sz="1400" dirty="0"/>
                        <a:t>Geo_point_2d_a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Quantitative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14203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969479"/>
                  </a:ext>
                </a:extLst>
              </a:tr>
              <a:tr h="290677">
                <a:tc>
                  <a:txBody>
                    <a:bodyPr/>
                    <a:lstStyle/>
                    <a:p>
                      <a:r>
                        <a:rPr lang="de-DE" sz="1400" dirty="0"/>
                        <a:t>Geo_point_2d_a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Quantitative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510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5107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777240"/>
          </a:xfrm>
        </p:spPr>
        <p:txBody>
          <a:bodyPr>
            <a:normAutofit/>
          </a:bodyPr>
          <a:lstStyle/>
          <a:p>
            <a:r>
              <a:rPr lang="de-DE" sz="3200" dirty="0" err="1"/>
              <a:t>Calculating</a:t>
            </a:r>
            <a:r>
              <a:rPr lang="de-DE" sz="3200" dirty="0"/>
              <a:t> </a:t>
            </a:r>
            <a:r>
              <a:rPr lang="de-DE" sz="3200" dirty="0" err="1"/>
              <a:t>percentage</a:t>
            </a:r>
            <a:r>
              <a:rPr lang="de-DE" sz="3200" dirty="0"/>
              <a:t> </a:t>
            </a:r>
            <a:r>
              <a:rPr lang="de-DE" sz="3200" dirty="0" err="1"/>
              <a:t>of</a:t>
            </a:r>
            <a:r>
              <a:rPr lang="de-DE" sz="3200" dirty="0"/>
              <a:t> null </a:t>
            </a:r>
            <a:r>
              <a:rPr lang="de-DE" sz="3200" dirty="0" err="1"/>
              <a:t>values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500" y="1441343"/>
            <a:ext cx="6920587" cy="446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31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564" y="1334902"/>
            <a:ext cx="10213383" cy="50177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Columns which are not relevant for further analysis are removed from dataset (</a:t>
            </a:r>
            <a:r>
              <a:rPr lang="en-US" sz="2400" dirty="0" err="1"/>
              <a:t>additional_address</a:t>
            </a:r>
            <a:r>
              <a:rPr lang="en-US" sz="2400" dirty="0"/>
              <a:t>, </a:t>
            </a:r>
            <a:r>
              <a:rPr lang="en-US" sz="2400" dirty="0" err="1"/>
              <a:t>street_number</a:t>
            </a:r>
            <a:r>
              <a:rPr lang="en-US" sz="2400" dirty="0"/>
              <a:t>, variety, ID, </a:t>
            </a:r>
            <a:r>
              <a:rPr lang="en-US" sz="2400" dirty="0" err="1"/>
              <a:t>ID_location</a:t>
            </a:r>
            <a:r>
              <a:rPr lang="en-US" sz="2400" dirty="0"/>
              <a:t>, outstanding,geo_point_2d_a,geo_point_2d_b</a:t>
            </a:r>
            <a:r>
              <a:rPr lang="en-US" sz="2400" b="1" dirty="0"/>
              <a:t>)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72861" y="396815"/>
            <a:ext cx="9718958" cy="763438"/>
          </a:xfrm>
        </p:spPr>
        <p:txBody>
          <a:bodyPr>
            <a:normAutofit/>
          </a:bodyPr>
          <a:lstStyle/>
          <a:p>
            <a:r>
              <a:rPr lang="de-DE" sz="3200" dirty="0" err="1"/>
              <a:t>Removal</a:t>
            </a:r>
            <a:r>
              <a:rPr lang="de-DE" sz="3200" dirty="0"/>
              <a:t> </a:t>
            </a:r>
            <a:r>
              <a:rPr lang="de-DE" sz="3200" dirty="0" err="1"/>
              <a:t>of</a:t>
            </a:r>
            <a:r>
              <a:rPr lang="de-DE" sz="3200" dirty="0"/>
              <a:t> </a:t>
            </a:r>
            <a:r>
              <a:rPr lang="de-DE" sz="3200" dirty="0" err="1"/>
              <a:t>columns</a:t>
            </a:r>
            <a:r>
              <a:rPr lang="de-DE" sz="3200" dirty="0"/>
              <a:t>: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13331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777240"/>
          </a:xfrm>
        </p:spPr>
        <p:txBody>
          <a:bodyPr>
            <a:normAutofit/>
          </a:bodyPr>
          <a:lstStyle/>
          <a:p>
            <a:r>
              <a:rPr lang="de-DE" sz="3200" dirty="0" err="1"/>
              <a:t>Dropping</a:t>
            </a:r>
            <a:r>
              <a:rPr lang="de-DE" sz="3200" dirty="0"/>
              <a:t> all </a:t>
            </a:r>
            <a:r>
              <a:rPr lang="de-DE" sz="3200" dirty="0" err="1"/>
              <a:t>nan</a:t>
            </a:r>
            <a:r>
              <a:rPr lang="de-DE" sz="3200" dirty="0"/>
              <a:t> </a:t>
            </a:r>
            <a:r>
              <a:rPr lang="de-DE" sz="3200" dirty="0" err="1"/>
              <a:t>values</a:t>
            </a:r>
            <a:r>
              <a:rPr lang="de-DE" sz="3200" dirty="0"/>
              <a:t> in </a:t>
            </a:r>
            <a:r>
              <a:rPr lang="de-DE" sz="3200" dirty="0" err="1"/>
              <a:t>data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1335543"/>
            <a:ext cx="6485959" cy="425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02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064" y="426468"/>
            <a:ext cx="9692640" cy="929322"/>
          </a:xfrm>
        </p:spPr>
        <p:txBody>
          <a:bodyPr>
            <a:normAutofit/>
          </a:bodyPr>
          <a:lstStyle/>
          <a:p>
            <a:r>
              <a:rPr lang="de-DE" sz="3200" dirty="0" err="1"/>
              <a:t>Checking</a:t>
            </a:r>
            <a:r>
              <a:rPr lang="de-DE" sz="3200" dirty="0"/>
              <a:t> </a:t>
            </a:r>
            <a:r>
              <a:rPr lang="de-DE" sz="3200" dirty="0" err="1"/>
              <a:t>distinct</a:t>
            </a:r>
            <a:r>
              <a:rPr lang="de-DE" sz="3200" dirty="0"/>
              <a:t> </a:t>
            </a:r>
            <a:r>
              <a:rPr lang="de-DE" sz="3200" dirty="0" err="1"/>
              <a:t>values</a:t>
            </a:r>
            <a:r>
              <a:rPr lang="de-DE" sz="3200" dirty="0"/>
              <a:t> in </a:t>
            </a:r>
            <a:r>
              <a:rPr lang="de-DE" sz="3200" dirty="0" err="1"/>
              <a:t>each</a:t>
            </a:r>
            <a:r>
              <a:rPr lang="de-DE" sz="3200" dirty="0"/>
              <a:t> </a:t>
            </a:r>
            <a:r>
              <a:rPr lang="de-DE" sz="3200" dirty="0" err="1"/>
              <a:t>column</a:t>
            </a:r>
            <a:endParaRPr lang="en-US" sz="32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9472" y="1762590"/>
            <a:ext cx="7330088" cy="340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240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168" y="388188"/>
            <a:ext cx="5656513" cy="794175"/>
          </a:xfrm>
        </p:spPr>
        <p:txBody>
          <a:bodyPr>
            <a:normAutofit/>
          </a:bodyPr>
          <a:lstStyle/>
          <a:p>
            <a:r>
              <a:rPr lang="de-DE" sz="3600" dirty="0" err="1"/>
              <a:t>Observations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63" y="1380228"/>
            <a:ext cx="8813781" cy="3554083"/>
          </a:xfrm>
        </p:spPr>
        <p:txBody>
          <a:bodyPr/>
          <a:lstStyle/>
          <a:p>
            <a:pPr marL="0" indent="0" algn="just">
              <a:buNone/>
            </a:pPr>
            <a:r>
              <a:rPr lang="de-DE" dirty="0"/>
              <a:t> </a:t>
            </a:r>
            <a:r>
              <a:rPr lang="de-DE" dirty="0" err="1"/>
              <a:t>Looking</a:t>
            </a:r>
            <a:r>
              <a:rPr lang="de-DE" dirty="0"/>
              <a:t> 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useful</a:t>
            </a:r>
            <a:r>
              <a:rPr lang="de-DE" dirty="0"/>
              <a:t> variables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:</a:t>
            </a:r>
          </a:p>
          <a:p>
            <a:pPr algn="just"/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9 </a:t>
            </a:r>
            <a:r>
              <a:rPr lang="de-DE" dirty="0" err="1"/>
              <a:t>domains</a:t>
            </a:r>
            <a:r>
              <a:rPr lang="de-DE" dirty="0"/>
              <a:t>: </a:t>
            </a:r>
          </a:p>
          <a:p>
            <a:pPr marL="0" indent="0" algn="just">
              <a:buNone/>
            </a:pPr>
            <a:r>
              <a:rPr lang="de-DE" dirty="0"/>
              <a:t>  </a:t>
            </a:r>
            <a:r>
              <a:rPr lang="de-DE" dirty="0" err="1"/>
              <a:t>Garden,alignment,DJS,DFPE,Cemetry,DASCO,DAC,Ringroad,DASES</a:t>
            </a:r>
            <a:endParaRPr lang="de-DE" dirty="0"/>
          </a:p>
          <a:p>
            <a:pPr algn="just"/>
            <a:r>
              <a:rPr lang="de-DE" dirty="0" err="1"/>
              <a:t>Development_stage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4 in </a:t>
            </a:r>
            <a:r>
              <a:rPr lang="de-DE" dirty="0" err="1"/>
              <a:t>given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 </a:t>
            </a:r>
            <a:r>
              <a:rPr lang="en-US" dirty="0"/>
              <a:t>: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/>
              <a:t>   J- young trees-Stage_1 -need more care ,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/>
              <a:t>   JA-</a:t>
            </a:r>
            <a:r>
              <a:rPr lang="en-US" dirty="0" err="1"/>
              <a:t>young_adult</a:t>
            </a:r>
            <a:r>
              <a:rPr lang="en-US" dirty="0"/>
              <a:t>- Stage_2 -Teenagers(need shape/care),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/>
              <a:t>   A-Adult- Stage_3 </a:t>
            </a:r>
            <a:r>
              <a:rPr lang="en-US" dirty="0" err="1"/>
              <a:t>Fully_grown</a:t>
            </a:r>
            <a:r>
              <a:rPr lang="en-US" dirty="0"/>
              <a:t>- require no care ,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/>
              <a:t>   M-Mature- Stage-4 - base needs to be checked .</a:t>
            </a:r>
          </a:p>
          <a:p>
            <a:pPr algn="just"/>
            <a:r>
              <a:rPr lang="de-DE" dirty="0"/>
              <a:t>Arrondissement </a:t>
            </a:r>
            <a:r>
              <a:rPr lang="de-DE" dirty="0" err="1"/>
              <a:t>are</a:t>
            </a:r>
            <a:r>
              <a:rPr lang="de-DE" dirty="0"/>
              <a:t> 25: These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locations</a:t>
            </a:r>
            <a:r>
              <a:rPr lang="de-DE" dirty="0"/>
              <a:t>/</a:t>
            </a:r>
            <a:r>
              <a:rPr lang="de-DE" dirty="0" err="1"/>
              <a:t>regions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Paris.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389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20440"/>
            <a:ext cx="9692640" cy="1325562"/>
          </a:xfrm>
        </p:spPr>
        <p:txBody>
          <a:bodyPr/>
          <a:lstStyle/>
          <a:p>
            <a:pPr algn="ctr"/>
            <a:r>
              <a:rPr lang="de-DE" dirty="0">
                <a:latin typeface="Algerian" panose="04020705040A02060702" pitchFamily="82" charset="0"/>
              </a:rPr>
              <a:t>UNIVARIATE STATISTICAL Analysis </a:t>
            </a:r>
            <a:endParaRPr lang="en-US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732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225" y="335750"/>
            <a:ext cx="9692641" cy="1085147"/>
          </a:xfrm>
        </p:spPr>
        <p:txBody>
          <a:bodyPr/>
          <a:lstStyle/>
          <a:p>
            <a:r>
              <a:rPr lang="en-US" sz="3600" dirty="0"/>
              <a:t>Some descriptive statistical 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0935" y="1734454"/>
            <a:ext cx="8827351" cy="4488815"/>
          </a:xfrm>
        </p:spPr>
        <p:txBody>
          <a:bodyPr>
            <a:normAutofit lnSpcReduction="10000"/>
          </a:bodyPr>
          <a:lstStyle/>
          <a:p>
            <a:r>
              <a:rPr lang="de-DE" b="1" dirty="0" err="1"/>
              <a:t>Mean</a:t>
            </a:r>
            <a:r>
              <a:rPr lang="de-DE" dirty="0"/>
              <a:t> : </a:t>
            </a:r>
            <a:r>
              <a:rPr lang="en-US" dirty="0"/>
              <a:t>The mean (also know as average), is obtained by dividing the sum of observed values by the number of observations.</a:t>
            </a:r>
            <a:endParaRPr lang="de-DE" dirty="0"/>
          </a:p>
          <a:p>
            <a:r>
              <a:rPr lang="de-DE" b="1" dirty="0"/>
              <a:t>Median</a:t>
            </a:r>
            <a:r>
              <a:rPr lang="de-DE" dirty="0"/>
              <a:t>: </a:t>
            </a:r>
            <a:r>
              <a:rPr lang="en-US" dirty="0"/>
              <a:t>Midpoint between the lowest and highest value of the set (median). The median is the middle value of a set of data containing an odd number of values, or the average of the two middle values of a set of data with an even number of values.</a:t>
            </a:r>
            <a:endParaRPr lang="de-DE" dirty="0"/>
          </a:p>
          <a:p>
            <a:r>
              <a:rPr lang="de-DE" b="1" dirty="0"/>
              <a:t>Mode</a:t>
            </a:r>
            <a:r>
              <a:rPr lang="de-DE" dirty="0"/>
              <a:t> : </a:t>
            </a:r>
            <a:r>
              <a:rPr lang="en-US" dirty="0"/>
              <a:t>Most frequently occurring value in dataset.</a:t>
            </a:r>
          </a:p>
          <a:p>
            <a:r>
              <a:rPr lang="de-DE" b="1" dirty="0"/>
              <a:t>Standard Deviation</a:t>
            </a:r>
            <a:r>
              <a:rPr lang="de-DE" dirty="0"/>
              <a:t>:</a:t>
            </a:r>
            <a:r>
              <a:rPr lang="en-US" dirty="0"/>
              <a:t> Data sets with a small standard deviation have tightly grouped, precise data. Data sets with large standard deviations have data spread out over a wide range of values. How much each measurement deviates from the mean is standard deviation of the mean.</a:t>
            </a:r>
            <a:endParaRPr lang="de-DE" dirty="0"/>
          </a:p>
          <a:p>
            <a:r>
              <a:rPr lang="de-DE" b="1" dirty="0" err="1"/>
              <a:t>Skewness</a:t>
            </a:r>
            <a:r>
              <a:rPr lang="de-DE" dirty="0"/>
              <a:t> : </a:t>
            </a:r>
            <a:r>
              <a:rPr lang="en-US" dirty="0"/>
              <a:t>Skewness value should be within the range of -1 to 1 for a normal distribution, Any major changes from this value indicates the presence of extreme value or outlier.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900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9176" y="1456067"/>
            <a:ext cx="8825283" cy="4642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/>
              <a:t>KURTOSIS</a:t>
            </a:r>
            <a:r>
              <a:rPr lang="de-DE" dirty="0"/>
              <a:t>: </a:t>
            </a:r>
          </a:p>
          <a:p>
            <a:pPr marL="0" indent="0">
              <a:buNone/>
            </a:pPr>
            <a:r>
              <a:rPr lang="de-DE" dirty="0"/>
              <a:t>T</a:t>
            </a:r>
            <a:r>
              <a:rPr lang="en-US" dirty="0"/>
              <a:t>o check the peakedness of data ,we use kurtosis</a:t>
            </a:r>
          </a:p>
          <a:p>
            <a:pPr marL="0" indent="0">
              <a:buNone/>
            </a:pPr>
            <a:r>
              <a:rPr lang="en-US" b="1" dirty="0"/>
              <a:t>TYPE OF KURTOSIS</a:t>
            </a:r>
          </a:p>
          <a:p>
            <a:r>
              <a:rPr lang="en-US" dirty="0"/>
              <a:t>If kurtosis=0: Mesokurtic, the distribution has the same degree of  peakedness (or flatness) as the normal distribution.</a:t>
            </a:r>
          </a:p>
          <a:p>
            <a:r>
              <a:rPr lang="en-US" dirty="0"/>
              <a:t>If kurtosis&gt;0:Leptokurtic, the distribution is more peaked (less flat) than the normal distribution: the observations are more densely concentrated around mean.(i.e., sharply peaked with heavy tails).</a:t>
            </a:r>
          </a:p>
          <a:p>
            <a:r>
              <a:rPr lang="en-US" dirty="0"/>
              <a:t>If kurtosis&lt;0 :Platykurtic,the distribution less peaked (flatter) than the normal distribution: the observations are less densely concentrated around mean.(i.e., the curve has a flat peak and has more dispersed scores with lighter tails).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01154" y="171848"/>
            <a:ext cx="9692641" cy="1085147"/>
          </a:xfrm>
        </p:spPr>
        <p:txBody>
          <a:bodyPr/>
          <a:lstStyle/>
          <a:p>
            <a:r>
              <a:rPr lang="en-US" sz="3600" dirty="0"/>
              <a:t>Some descriptive statistical measures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22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93" y="1691017"/>
            <a:ext cx="6747153" cy="44900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611" y="496927"/>
            <a:ext cx="10581979" cy="778934"/>
          </a:xfrm>
        </p:spPr>
        <p:txBody>
          <a:bodyPr>
            <a:normAutofit/>
          </a:bodyPr>
          <a:lstStyle/>
          <a:p>
            <a:r>
              <a:rPr lang="de-DE" sz="3200" dirty="0" err="1"/>
              <a:t>Checking</a:t>
            </a:r>
            <a:r>
              <a:rPr lang="de-DE" sz="3200" dirty="0"/>
              <a:t> </a:t>
            </a:r>
            <a:r>
              <a:rPr lang="de-DE" sz="3200" dirty="0" err="1"/>
              <a:t>data</a:t>
            </a:r>
            <a:r>
              <a:rPr lang="de-DE" sz="3200" dirty="0"/>
              <a:t> </a:t>
            </a:r>
            <a:r>
              <a:rPr lang="de-DE" sz="3200" dirty="0" err="1"/>
              <a:t>for</a:t>
            </a:r>
            <a:r>
              <a:rPr lang="de-DE" sz="3200" dirty="0"/>
              <a:t> </a:t>
            </a:r>
            <a:r>
              <a:rPr lang="de-DE" sz="3200" dirty="0" err="1"/>
              <a:t>outliers</a:t>
            </a:r>
            <a:endParaRPr lang="en-US" sz="3200" dirty="0"/>
          </a:p>
        </p:txBody>
      </p:sp>
      <p:sp>
        <p:nvSpPr>
          <p:cNvPr id="9" name="Rectangle 8"/>
          <p:cNvSpPr/>
          <p:nvPr/>
        </p:nvSpPr>
        <p:spPr>
          <a:xfrm>
            <a:off x="2001328" y="3666048"/>
            <a:ext cx="2743200" cy="37006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001327" y="5644802"/>
            <a:ext cx="2743201" cy="419568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001328" y="4072578"/>
            <a:ext cx="2743200" cy="370059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12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374" y="845389"/>
            <a:ext cx="5871494" cy="784288"/>
          </a:xfrm>
        </p:spPr>
        <p:txBody>
          <a:bodyPr/>
          <a:lstStyle/>
          <a:p>
            <a:r>
              <a:rPr lang="de-DE" sz="3600" dirty="0" err="1"/>
              <a:t>Observations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3374" y="1746606"/>
            <a:ext cx="8595360" cy="4351337"/>
          </a:xfrm>
        </p:spPr>
        <p:txBody>
          <a:bodyPr/>
          <a:lstStyle/>
          <a:p>
            <a:r>
              <a:rPr lang="de-DE" dirty="0"/>
              <a:t>As </a:t>
            </a:r>
            <a:r>
              <a:rPr lang="de-DE" dirty="0" err="1"/>
              <a:t>the</a:t>
            </a:r>
            <a:r>
              <a:rPr lang="de-DE" dirty="0"/>
              <a:t> Minimum </a:t>
            </a:r>
            <a:r>
              <a:rPr lang="de-DE" dirty="0" err="1"/>
              <a:t>and</a:t>
            </a:r>
            <a:r>
              <a:rPr lang="de-DE" dirty="0"/>
              <a:t> Maximum </a:t>
            </a:r>
            <a:r>
              <a:rPr lang="de-DE" dirty="0" err="1"/>
              <a:t>values</a:t>
            </a:r>
            <a:r>
              <a:rPr lang="de-DE" dirty="0"/>
              <a:t> in </a:t>
            </a:r>
            <a:r>
              <a:rPr lang="de-DE" dirty="0" err="1"/>
              <a:t>circumference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height</a:t>
            </a:r>
            <a:r>
              <a:rPr lang="de-DE" dirty="0"/>
              <a:t> </a:t>
            </a:r>
            <a:r>
              <a:rPr lang="de-DE" dirty="0" err="1"/>
              <a:t>show</a:t>
            </a:r>
            <a:r>
              <a:rPr lang="de-DE" dirty="0"/>
              <a:t> a </a:t>
            </a:r>
            <a:r>
              <a:rPr lang="de-DE" dirty="0" err="1"/>
              <a:t>huge</a:t>
            </a:r>
            <a:r>
              <a:rPr lang="de-DE" dirty="0"/>
              <a:t> </a:t>
            </a:r>
            <a:r>
              <a:rPr lang="de-DE" dirty="0" err="1"/>
              <a:t>difference</a:t>
            </a:r>
            <a:r>
              <a:rPr lang="de-DE" dirty="0"/>
              <a:t> ,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check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outliers</a:t>
            </a:r>
            <a:r>
              <a:rPr lang="de-DE" dirty="0"/>
              <a:t> in </a:t>
            </a:r>
            <a:r>
              <a:rPr lang="de-DE" dirty="0" err="1"/>
              <a:t>data</a:t>
            </a:r>
            <a:r>
              <a:rPr lang="de-DE" dirty="0"/>
              <a:t>.</a:t>
            </a:r>
          </a:p>
          <a:p>
            <a:r>
              <a:rPr lang="de-DE" dirty="0"/>
              <a:t>Standard </a:t>
            </a:r>
            <a:r>
              <a:rPr lang="de-DE" dirty="0" err="1"/>
              <a:t>deviation,deviation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mean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large,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means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large </a:t>
            </a:r>
            <a:r>
              <a:rPr lang="de-DE" dirty="0" err="1"/>
              <a:t>values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included</a:t>
            </a:r>
            <a:r>
              <a:rPr lang="de-DE" dirty="0"/>
              <a:t> in </a:t>
            </a:r>
            <a:r>
              <a:rPr lang="de-DE" dirty="0" err="1"/>
              <a:t>dataset</a:t>
            </a:r>
            <a:r>
              <a:rPr lang="de-DE" dirty="0"/>
              <a:t>.</a:t>
            </a:r>
            <a:endParaRPr lang="en-US" dirty="0"/>
          </a:p>
          <a:p>
            <a:r>
              <a:rPr lang="de-DE" dirty="0" err="1"/>
              <a:t>It</a:t>
            </a:r>
            <a:r>
              <a:rPr lang="de-DE" dirty="0"/>
              <a:t> was </a:t>
            </a:r>
            <a:r>
              <a:rPr lang="de-DE" dirty="0" err="1"/>
              <a:t>found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maximum</a:t>
            </a:r>
            <a:r>
              <a:rPr lang="de-DE" dirty="0"/>
              <a:t> </a:t>
            </a:r>
            <a:r>
              <a:rPr lang="de-DE" dirty="0" err="1"/>
              <a:t>circumference</a:t>
            </a:r>
            <a:r>
              <a:rPr lang="de-DE" dirty="0"/>
              <a:t> </a:t>
            </a:r>
            <a:r>
              <a:rPr lang="de-DE" dirty="0" err="1"/>
              <a:t>can‘t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1500cm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max</a:t>
            </a:r>
            <a:r>
              <a:rPr lang="de-DE" dirty="0"/>
              <a:t> </a:t>
            </a:r>
            <a:r>
              <a:rPr lang="de-DE" dirty="0" err="1"/>
              <a:t>height</a:t>
            </a:r>
            <a:r>
              <a:rPr lang="de-DE" dirty="0"/>
              <a:t> </a:t>
            </a:r>
            <a:r>
              <a:rPr lang="de-DE" dirty="0" err="1"/>
              <a:t>can‘t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150 m .</a:t>
            </a:r>
          </a:p>
          <a:p>
            <a:endParaRPr lang="de-DE" dirty="0"/>
          </a:p>
          <a:p>
            <a:r>
              <a:rPr lang="de-DE" dirty="0"/>
              <a:t>Reference: https://www.monumentaltrees.com/en/records/fra/</a:t>
            </a:r>
          </a:p>
        </p:txBody>
      </p:sp>
    </p:spTree>
    <p:extLst>
      <p:ext uri="{BB962C8B-B14F-4D97-AF65-F5344CB8AC3E}">
        <p14:creationId xmlns:p14="http://schemas.microsoft.com/office/powerpoint/2010/main" val="3634625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899" y="626724"/>
            <a:ext cx="9524503" cy="742782"/>
          </a:xfrm>
        </p:spPr>
        <p:txBody>
          <a:bodyPr>
            <a:normAutofit/>
          </a:bodyPr>
          <a:lstStyle/>
          <a:p>
            <a:r>
              <a:rPr lang="de-DE" sz="3200" dirty="0" err="1"/>
              <a:t>Function</a:t>
            </a:r>
            <a:r>
              <a:rPr lang="de-DE" sz="3200" dirty="0"/>
              <a:t> </a:t>
            </a:r>
            <a:r>
              <a:rPr lang="de-DE" sz="3200" dirty="0" err="1"/>
              <a:t>for</a:t>
            </a:r>
            <a:r>
              <a:rPr lang="de-DE" sz="3200" dirty="0"/>
              <a:t> </a:t>
            </a:r>
            <a:r>
              <a:rPr lang="de-DE" sz="3200" dirty="0" err="1"/>
              <a:t>univariate</a:t>
            </a:r>
            <a:r>
              <a:rPr lang="de-DE" sz="3200" dirty="0"/>
              <a:t> </a:t>
            </a:r>
            <a:r>
              <a:rPr lang="de-DE" sz="3200" dirty="0" err="1"/>
              <a:t>statistical</a:t>
            </a:r>
            <a:r>
              <a:rPr lang="de-DE" sz="3200" dirty="0"/>
              <a:t> </a:t>
            </a:r>
            <a:r>
              <a:rPr lang="de-DE" sz="3200" dirty="0" err="1"/>
              <a:t>analysis</a:t>
            </a:r>
            <a:endParaRPr lang="en-US" sz="32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899" y="1989931"/>
            <a:ext cx="9464313" cy="327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193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46" y="380144"/>
            <a:ext cx="9526404" cy="914400"/>
          </a:xfrm>
        </p:spPr>
        <p:txBody>
          <a:bodyPr>
            <a:normAutofit/>
          </a:bodyPr>
          <a:lstStyle/>
          <a:p>
            <a:r>
              <a:rPr lang="de-DE" sz="3600" dirty="0"/>
              <a:t>Analysis </a:t>
            </a:r>
            <a:r>
              <a:rPr lang="de-DE" sz="3600" dirty="0" err="1"/>
              <a:t>of</a:t>
            </a:r>
            <a:r>
              <a:rPr lang="de-DE" sz="3600" dirty="0"/>
              <a:t> </a:t>
            </a:r>
            <a:r>
              <a:rPr lang="de-DE" sz="3600" dirty="0" err="1"/>
              <a:t>height_m</a:t>
            </a:r>
            <a:endParaRPr lang="en-US" sz="36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0059" y="1602381"/>
            <a:ext cx="4281475" cy="464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770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480" y="1026545"/>
            <a:ext cx="9617710" cy="763740"/>
          </a:xfrm>
        </p:spPr>
        <p:txBody>
          <a:bodyPr>
            <a:normAutofit/>
          </a:bodyPr>
          <a:lstStyle/>
          <a:p>
            <a:r>
              <a:rPr lang="de-DE" sz="3200" dirty="0" err="1"/>
              <a:t>Observations</a:t>
            </a:r>
            <a:r>
              <a:rPr lang="de-DE" sz="3200" dirty="0"/>
              <a:t> </a:t>
            </a:r>
            <a:r>
              <a:rPr lang="de-DE" sz="3200" dirty="0" err="1"/>
              <a:t>for</a:t>
            </a:r>
            <a:r>
              <a:rPr lang="de-DE" sz="3200" dirty="0"/>
              <a:t> </a:t>
            </a:r>
            <a:r>
              <a:rPr lang="de-DE" sz="3200" dirty="0" err="1"/>
              <a:t>height_m</a:t>
            </a:r>
            <a:r>
              <a:rPr lang="de-DE" sz="3200" dirty="0"/>
              <a:t>: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480" y="1790285"/>
            <a:ext cx="8408048" cy="25142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mean&gt;median=mode : 17.97&gt;10 =10, distribution is skewed right (or is positively skewed).</a:t>
            </a:r>
          </a:p>
          <a:p>
            <a:r>
              <a:rPr lang="de-DE" dirty="0" err="1"/>
              <a:t>Skewness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: 361.9 (</a:t>
            </a:r>
            <a:r>
              <a:rPr lang="de-DE" dirty="0" err="1"/>
              <a:t>very</a:t>
            </a:r>
            <a:r>
              <a:rPr lang="de-DE" dirty="0"/>
              <a:t> high) ,</a:t>
            </a:r>
            <a:r>
              <a:rPr lang="de-DE" dirty="0" err="1"/>
              <a:t>shows</a:t>
            </a:r>
            <a:r>
              <a:rPr lang="de-DE" dirty="0"/>
              <a:t> </a:t>
            </a:r>
            <a:r>
              <a:rPr lang="de-DE" dirty="0" err="1"/>
              <a:t>presence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outliers</a:t>
            </a:r>
            <a:r>
              <a:rPr lang="de-DE" dirty="0"/>
              <a:t>.</a:t>
            </a:r>
            <a:endParaRPr lang="en-US" dirty="0"/>
          </a:p>
          <a:p>
            <a:r>
              <a:rPr lang="en-US" dirty="0"/>
              <a:t>As we have obtained large values for kurtosis 131001 which means Leptokurtic, which means observations are densely concentrated around mean. This exceptionally high value shows presence of outliers.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949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061" y="586596"/>
            <a:ext cx="9669176" cy="725164"/>
          </a:xfrm>
        </p:spPr>
        <p:txBody>
          <a:bodyPr>
            <a:normAutofit/>
          </a:bodyPr>
          <a:lstStyle/>
          <a:p>
            <a:r>
              <a:rPr lang="de-DE" sz="3200" dirty="0"/>
              <a:t>Analysis </a:t>
            </a:r>
            <a:r>
              <a:rPr lang="de-DE" sz="3200" dirty="0" err="1"/>
              <a:t>of</a:t>
            </a:r>
            <a:r>
              <a:rPr lang="de-DE" sz="3200" dirty="0"/>
              <a:t> </a:t>
            </a:r>
            <a:r>
              <a:rPr lang="de-DE" sz="3200" dirty="0" err="1"/>
              <a:t>circumference_cm</a:t>
            </a:r>
            <a:endParaRPr lang="en-US" sz="32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0831" y="1630393"/>
            <a:ext cx="49948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585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5913" y="599196"/>
            <a:ext cx="9692640" cy="1054324"/>
          </a:xfrm>
        </p:spPr>
        <p:txBody>
          <a:bodyPr>
            <a:normAutofit/>
          </a:bodyPr>
          <a:lstStyle/>
          <a:p>
            <a:r>
              <a:rPr lang="de-DE" sz="3200" dirty="0" err="1"/>
              <a:t>Observations</a:t>
            </a:r>
            <a:r>
              <a:rPr lang="de-DE" sz="3200" dirty="0"/>
              <a:t> </a:t>
            </a:r>
            <a:r>
              <a:rPr lang="de-DE" sz="3200" dirty="0" err="1"/>
              <a:t>for</a:t>
            </a:r>
            <a:r>
              <a:rPr lang="de-DE" sz="3200" dirty="0"/>
              <a:t> </a:t>
            </a:r>
            <a:r>
              <a:rPr lang="de-DE" sz="3200" dirty="0" err="1"/>
              <a:t>circumference_cm</a:t>
            </a:r>
            <a:r>
              <a:rPr lang="de-DE" sz="3200" dirty="0"/>
              <a:t>: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913" y="1751163"/>
            <a:ext cx="8046329" cy="3882662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mean&gt;median&gt;mode : 101 &gt;85&gt;70 , distribution is skewed right (or is positively skewed) means outliers are in right side of mean.</a:t>
            </a:r>
          </a:p>
          <a:p>
            <a:r>
              <a:rPr lang="de-DE" dirty="0" err="1"/>
              <a:t>Skewness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: 242.7 (</a:t>
            </a:r>
            <a:r>
              <a:rPr lang="de-DE" dirty="0" err="1"/>
              <a:t>very</a:t>
            </a:r>
            <a:r>
              <a:rPr lang="de-DE" dirty="0"/>
              <a:t> high) ,</a:t>
            </a:r>
            <a:r>
              <a:rPr lang="de-DE" dirty="0" err="1"/>
              <a:t>shows</a:t>
            </a:r>
            <a:r>
              <a:rPr lang="de-DE" dirty="0"/>
              <a:t> </a:t>
            </a:r>
            <a:r>
              <a:rPr lang="de-DE" dirty="0" err="1"/>
              <a:t>presence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outliers</a:t>
            </a:r>
            <a:r>
              <a:rPr lang="de-DE" dirty="0"/>
              <a:t>.</a:t>
            </a:r>
            <a:endParaRPr lang="en-US" dirty="0"/>
          </a:p>
          <a:p>
            <a:r>
              <a:rPr lang="en-US" dirty="0"/>
              <a:t>As we have obtained large values for kurtosis 67175 which means Leptokurtic which means observations are densely concentrated around mean. This exceptionally high value shows presence of outliers.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137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653" y="629728"/>
            <a:ext cx="9755731" cy="810769"/>
          </a:xfrm>
        </p:spPr>
        <p:txBody>
          <a:bodyPr>
            <a:normAutofit/>
          </a:bodyPr>
          <a:lstStyle/>
          <a:p>
            <a:r>
              <a:rPr lang="de-DE" sz="3600" dirty="0"/>
              <a:t>Handling </a:t>
            </a:r>
            <a:r>
              <a:rPr lang="de-DE" sz="3600" dirty="0" err="1"/>
              <a:t>Outliers</a:t>
            </a:r>
            <a:endParaRPr lang="en-US" sz="36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4743" y="3213993"/>
            <a:ext cx="7718425" cy="23907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94743" y="1588581"/>
            <a:ext cx="806310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Flooring And Capping:(Min-Max)</a:t>
            </a:r>
          </a:p>
          <a:p>
            <a:r>
              <a:rPr lang="en-US" dirty="0"/>
              <a:t>This quantile-based technique, we will do the flooring(</a:t>
            </a:r>
            <a:r>
              <a:rPr lang="en-US" dirty="0" err="1"/>
              <a:t>e.g</a:t>
            </a:r>
            <a:r>
              <a:rPr lang="en-US" dirty="0"/>
              <a:t> 25th percentile) for the lower values and capping(</a:t>
            </a:r>
            <a:r>
              <a:rPr lang="en-US" dirty="0" err="1"/>
              <a:t>e.g</a:t>
            </a:r>
            <a:r>
              <a:rPr lang="en-US" dirty="0"/>
              <a:t> for the 75th percentile) for the higher values. These percentile values will be used for the quantile-based flooring and capping.</a:t>
            </a:r>
          </a:p>
        </p:txBody>
      </p:sp>
    </p:spTree>
    <p:extLst>
      <p:ext uri="{BB962C8B-B14F-4D97-AF65-F5344CB8AC3E}">
        <p14:creationId xmlns:p14="http://schemas.microsoft.com/office/powerpoint/2010/main" val="1261728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60" y="1039931"/>
            <a:ext cx="9115425" cy="5019675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62641" y="172528"/>
            <a:ext cx="10049773" cy="694875"/>
          </a:xfrm>
        </p:spPr>
        <p:txBody>
          <a:bodyPr>
            <a:normAutofit fontScale="90000"/>
          </a:bodyPr>
          <a:lstStyle/>
          <a:p>
            <a:r>
              <a:rPr lang="de-DE" sz="3600" dirty="0"/>
              <a:t>Boxplot </a:t>
            </a:r>
            <a:r>
              <a:rPr lang="de-DE" sz="3600" dirty="0" err="1"/>
              <a:t>for</a:t>
            </a:r>
            <a:r>
              <a:rPr lang="de-DE" sz="3600" dirty="0"/>
              <a:t> </a:t>
            </a:r>
            <a:r>
              <a:rPr lang="de-DE" sz="3600" dirty="0" err="1"/>
              <a:t>circumference_cm</a:t>
            </a:r>
            <a:r>
              <a:rPr lang="de-DE" sz="3600" dirty="0"/>
              <a:t> after </a:t>
            </a:r>
            <a:r>
              <a:rPr lang="de-DE" sz="3600" dirty="0" err="1"/>
              <a:t>handling</a:t>
            </a:r>
            <a:r>
              <a:rPr lang="de-DE" sz="3600" dirty="0"/>
              <a:t> </a:t>
            </a:r>
            <a:r>
              <a:rPr lang="de-DE" sz="3600" dirty="0" err="1"/>
              <a:t>outliers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85914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6160" y="1155939"/>
            <a:ext cx="8942903" cy="4727275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966160" y="232913"/>
            <a:ext cx="9575320" cy="617237"/>
          </a:xfrm>
        </p:spPr>
        <p:txBody>
          <a:bodyPr>
            <a:normAutofit/>
          </a:bodyPr>
          <a:lstStyle/>
          <a:p>
            <a:r>
              <a:rPr lang="de-DE" sz="3600" dirty="0"/>
              <a:t>Boxplot </a:t>
            </a:r>
            <a:r>
              <a:rPr lang="de-DE" sz="3600" dirty="0" err="1"/>
              <a:t>for</a:t>
            </a:r>
            <a:r>
              <a:rPr lang="de-DE" sz="3600" dirty="0"/>
              <a:t> </a:t>
            </a:r>
            <a:r>
              <a:rPr lang="de-DE" sz="3600" dirty="0" err="1"/>
              <a:t>height_m</a:t>
            </a:r>
            <a:r>
              <a:rPr lang="de-DE" sz="3600" dirty="0"/>
              <a:t> after </a:t>
            </a:r>
            <a:r>
              <a:rPr lang="de-DE" sz="3600" dirty="0" err="1"/>
              <a:t>handling</a:t>
            </a:r>
            <a:r>
              <a:rPr lang="de-DE" sz="3600" dirty="0"/>
              <a:t> </a:t>
            </a:r>
            <a:r>
              <a:rPr lang="de-DE" sz="3600" dirty="0" err="1"/>
              <a:t>outliers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63667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8" y="664234"/>
            <a:ext cx="9919342" cy="785548"/>
          </a:xfrm>
        </p:spPr>
        <p:txBody>
          <a:bodyPr>
            <a:normAutofit/>
          </a:bodyPr>
          <a:lstStyle/>
          <a:p>
            <a:r>
              <a:rPr lang="de-DE" sz="3200" dirty="0"/>
              <a:t>Feature </a:t>
            </a:r>
            <a:r>
              <a:rPr lang="de-DE" sz="3200" dirty="0" err="1"/>
              <a:t>Circumference_cm</a:t>
            </a:r>
            <a:r>
              <a:rPr lang="de-DE" sz="3200" dirty="0"/>
              <a:t> after </a:t>
            </a:r>
            <a:r>
              <a:rPr lang="de-DE" sz="3200" dirty="0" err="1"/>
              <a:t>handling</a:t>
            </a:r>
            <a:r>
              <a:rPr lang="de-DE" sz="3200" dirty="0"/>
              <a:t> </a:t>
            </a:r>
            <a:r>
              <a:rPr lang="de-DE" sz="3200" dirty="0" err="1"/>
              <a:t>outliers</a:t>
            </a:r>
            <a:endParaRPr lang="en-US" sz="32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038" y="1828799"/>
            <a:ext cx="4643884" cy="355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771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132" y="552089"/>
            <a:ext cx="9692640" cy="837307"/>
          </a:xfrm>
        </p:spPr>
        <p:txBody>
          <a:bodyPr>
            <a:normAutofit/>
          </a:bodyPr>
          <a:lstStyle/>
          <a:p>
            <a:r>
              <a:rPr lang="de-DE" sz="3200" dirty="0"/>
              <a:t>Feature </a:t>
            </a:r>
            <a:r>
              <a:rPr lang="de-DE" sz="3200" dirty="0" err="1"/>
              <a:t>height_m</a:t>
            </a:r>
            <a:r>
              <a:rPr lang="de-DE" sz="3200" dirty="0"/>
              <a:t> after </a:t>
            </a:r>
            <a:r>
              <a:rPr lang="de-DE" sz="3200" dirty="0" err="1"/>
              <a:t>handling</a:t>
            </a:r>
            <a:r>
              <a:rPr lang="de-DE" sz="3200" dirty="0"/>
              <a:t> </a:t>
            </a:r>
            <a:r>
              <a:rPr lang="de-DE" sz="3200" dirty="0" err="1"/>
              <a:t>outliers</a:t>
            </a:r>
            <a:endParaRPr lang="en-US" sz="32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023" y="1751162"/>
            <a:ext cx="77856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12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171" y="1702054"/>
            <a:ext cx="4764354" cy="453219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88489" y="3694107"/>
            <a:ext cx="2762250" cy="274044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788489" y="3236907"/>
            <a:ext cx="2762250" cy="317176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65854" y="541854"/>
            <a:ext cx="9919342" cy="785548"/>
          </a:xfrm>
        </p:spPr>
        <p:txBody>
          <a:bodyPr>
            <a:normAutofit/>
          </a:bodyPr>
          <a:lstStyle/>
          <a:p>
            <a:r>
              <a:rPr lang="de-DE" sz="3200" dirty="0" err="1"/>
              <a:t>Descriptive</a:t>
            </a:r>
            <a:r>
              <a:rPr lang="de-DE" sz="3200" dirty="0"/>
              <a:t> </a:t>
            </a:r>
            <a:r>
              <a:rPr lang="de-DE" sz="3200" dirty="0" err="1"/>
              <a:t>analysis</a:t>
            </a:r>
            <a:r>
              <a:rPr lang="de-DE" sz="3200" dirty="0"/>
              <a:t> after </a:t>
            </a:r>
            <a:r>
              <a:rPr lang="de-DE" sz="3200" dirty="0" err="1"/>
              <a:t>handling</a:t>
            </a:r>
            <a:r>
              <a:rPr lang="de-DE" sz="3200" dirty="0"/>
              <a:t> </a:t>
            </a:r>
            <a:r>
              <a:rPr lang="de-DE" sz="3200" dirty="0" err="1"/>
              <a:t>outliers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94832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336" y="680720"/>
            <a:ext cx="9703682" cy="757366"/>
          </a:xfrm>
        </p:spPr>
        <p:txBody>
          <a:bodyPr>
            <a:normAutofit/>
          </a:bodyPr>
          <a:lstStyle/>
          <a:p>
            <a:r>
              <a:rPr lang="de-DE" sz="3600" dirty="0" err="1"/>
              <a:t>Coefficient</a:t>
            </a:r>
            <a:r>
              <a:rPr lang="de-DE" sz="3600" dirty="0"/>
              <a:t> </a:t>
            </a:r>
            <a:r>
              <a:rPr lang="de-DE" sz="3600" dirty="0" err="1"/>
              <a:t>of</a:t>
            </a:r>
            <a:r>
              <a:rPr lang="de-DE" sz="3600" dirty="0"/>
              <a:t> </a:t>
            </a:r>
            <a:r>
              <a:rPr lang="de-DE" sz="3600" dirty="0" err="1"/>
              <a:t>variation</a:t>
            </a:r>
            <a:endParaRPr lang="en-US" sz="36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6336" y="2937522"/>
            <a:ext cx="7728610" cy="269626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6336" y="1667793"/>
            <a:ext cx="77286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Coefficient of variation measures extent of variability in relation to the mean of the population. </a:t>
            </a:r>
            <a:r>
              <a:rPr lang="de-DE" dirty="0"/>
              <a:t>After </a:t>
            </a:r>
            <a:r>
              <a:rPr lang="de-DE" dirty="0" err="1"/>
              <a:t>removing</a:t>
            </a:r>
            <a:r>
              <a:rPr lang="de-DE" dirty="0"/>
              <a:t> </a:t>
            </a:r>
            <a:r>
              <a:rPr lang="de-DE" dirty="0" err="1"/>
              <a:t>outliers</a:t>
            </a:r>
            <a:r>
              <a:rPr lang="de-DE" dirty="0"/>
              <a:t> </a:t>
            </a:r>
            <a:r>
              <a:rPr lang="de-DE" dirty="0" err="1"/>
              <a:t>coefficient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variation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less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338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361" y="2192331"/>
            <a:ext cx="9692640" cy="1325562"/>
          </a:xfrm>
        </p:spPr>
        <p:txBody>
          <a:bodyPr/>
          <a:lstStyle/>
          <a:p>
            <a:pPr algn="ctr"/>
            <a:r>
              <a:rPr lang="de-DE" dirty="0">
                <a:latin typeface="Algerian" panose="04020705040A02060702" pitchFamily="82" charset="0"/>
              </a:rPr>
              <a:t>VISUALIZATIONS</a:t>
            </a:r>
            <a:endParaRPr lang="en-US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4112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0418" y="515991"/>
            <a:ext cx="9557227" cy="889938"/>
          </a:xfrm>
        </p:spPr>
        <p:txBody>
          <a:bodyPr>
            <a:normAutofit/>
          </a:bodyPr>
          <a:lstStyle/>
          <a:p>
            <a:r>
              <a:rPr lang="de-DE" sz="3200" dirty="0" err="1"/>
              <a:t>Pie</a:t>
            </a:r>
            <a:r>
              <a:rPr lang="de-DE" sz="3200" dirty="0"/>
              <a:t> </a:t>
            </a:r>
            <a:r>
              <a:rPr lang="de-DE" sz="3200" dirty="0" err="1"/>
              <a:t>chart</a:t>
            </a:r>
            <a:r>
              <a:rPr lang="de-DE" sz="3200" dirty="0"/>
              <a:t> </a:t>
            </a:r>
            <a:r>
              <a:rPr lang="de-DE" sz="3200" dirty="0" err="1"/>
              <a:t>for</a:t>
            </a:r>
            <a:r>
              <a:rPr lang="de-DE" sz="3200" dirty="0"/>
              <a:t> Domain &amp; </a:t>
            </a:r>
            <a:r>
              <a:rPr lang="de-DE" sz="3200" dirty="0" err="1"/>
              <a:t>Development_stage</a:t>
            </a:r>
            <a:endParaRPr lang="en-US" sz="32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836762" y="4960189"/>
            <a:ext cx="10120883" cy="15096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000" dirty="0"/>
              <a:t>These </a:t>
            </a:r>
            <a:r>
              <a:rPr lang="de-DE" sz="2000" dirty="0" err="1"/>
              <a:t>pie</a:t>
            </a:r>
            <a:r>
              <a:rPr lang="de-DE" sz="2000" dirty="0"/>
              <a:t> </a:t>
            </a:r>
            <a:r>
              <a:rPr lang="de-DE" sz="2000" dirty="0" err="1"/>
              <a:t>charts</a:t>
            </a:r>
            <a:r>
              <a:rPr lang="de-DE" sz="2000" dirty="0"/>
              <a:t> </a:t>
            </a:r>
            <a:r>
              <a:rPr lang="de-DE" sz="2000" dirty="0" err="1"/>
              <a:t>show</a:t>
            </a:r>
            <a:r>
              <a:rPr lang="de-DE" sz="2000" dirty="0"/>
              <a:t> </a:t>
            </a:r>
            <a:r>
              <a:rPr lang="de-DE" sz="2000" dirty="0" err="1"/>
              <a:t>that</a:t>
            </a:r>
            <a:r>
              <a:rPr lang="de-DE" sz="2000" dirty="0"/>
              <a:t> </a:t>
            </a:r>
            <a:r>
              <a:rPr lang="de-DE" sz="2000" dirty="0" err="1"/>
              <a:t>maximum</a:t>
            </a:r>
            <a:r>
              <a:rPr lang="de-DE" sz="2000" dirty="0"/>
              <a:t> </a:t>
            </a:r>
            <a:r>
              <a:rPr lang="de-DE" sz="2000" dirty="0" err="1"/>
              <a:t>number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trees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</a:t>
            </a:r>
            <a:r>
              <a:rPr lang="de-DE" sz="2000" dirty="0" err="1"/>
              <a:t>Adults</a:t>
            </a:r>
            <a:r>
              <a:rPr lang="de-DE" sz="2000" dirty="0"/>
              <a:t> </a:t>
            </a:r>
            <a:r>
              <a:rPr lang="de-DE" sz="2000" dirty="0" err="1"/>
              <a:t>and</a:t>
            </a:r>
            <a:r>
              <a:rPr lang="de-DE" sz="2000" dirty="0"/>
              <a:t>  </a:t>
            </a:r>
            <a:r>
              <a:rPr lang="de-DE" sz="2000" dirty="0" err="1"/>
              <a:t>maximum</a:t>
            </a:r>
            <a:r>
              <a:rPr lang="de-DE" sz="2000" dirty="0"/>
              <a:t> </a:t>
            </a:r>
            <a:r>
              <a:rPr lang="de-DE" sz="2000" dirty="0" err="1"/>
              <a:t>trees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in </a:t>
            </a:r>
            <a:r>
              <a:rPr lang="de-DE" sz="2000" dirty="0" err="1"/>
              <a:t>domain</a:t>
            </a:r>
            <a:r>
              <a:rPr lang="de-DE" sz="2000" dirty="0"/>
              <a:t> </a:t>
            </a:r>
            <a:r>
              <a:rPr lang="de-DE" sz="2000" dirty="0" err="1"/>
              <a:t>Alignment.In</a:t>
            </a:r>
            <a:r>
              <a:rPr lang="de-DE" sz="2000" dirty="0"/>
              <a:t> </a:t>
            </a:r>
            <a:r>
              <a:rPr lang="de-DE" sz="2000" dirty="0" err="1"/>
              <a:t>first</a:t>
            </a:r>
            <a:r>
              <a:rPr lang="de-DE" sz="2000" dirty="0"/>
              <a:t> </a:t>
            </a:r>
            <a:r>
              <a:rPr lang="de-DE" sz="2000" dirty="0" err="1"/>
              <a:t>pie</a:t>
            </a:r>
            <a:r>
              <a:rPr lang="de-DE" sz="2000" dirty="0"/>
              <a:t> </a:t>
            </a:r>
            <a:r>
              <a:rPr lang="de-DE" sz="2000" dirty="0" err="1"/>
              <a:t>chart</a:t>
            </a:r>
            <a:r>
              <a:rPr lang="de-DE" sz="2000" dirty="0"/>
              <a:t> 48.6%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trees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adult,26.6% </a:t>
            </a:r>
            <a:r>
              <a:rPr lang="de-DE" sz="2000" dirty="0" err="1"/>
              <a:t>trees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JA(</a:t>
            </a:r>
            <a:r>
              <a:rPr lang="de-DE" sz="2000" dirty="0" err="1"/>
              <a:t>young</a:t>
            </a:r>
            <a:r>
              <a:rPr lang="de-DE" sz="2000" dirty="0"/>
              <a:t> </a:t>
            </a:r>
            <a:r>
              <a:rPr lang="de-DE" sz="2000" dirty="0" err="1"/>
              <a:t>adults</a:t>
            </a:r>
            <a:r>
              <a:rPr lang="de-DE" sz="2000" dirty="0"/>
              <a:t> ) </a:t>
            </a:r>
            <a:r>
              <a:rPr lang="de-DE" sz="2000" dirty="0" err="1"/>
              <a:t>and</a:t>
            </a:r>
            <a:r>
              <a:rPr lang="de-DE" sz="2000" dirty="0"/>
              <a:t> 20.2% </a:t>
            </a:r>
            <a:r>
              <a:rPr lang="de-DE" sz="2000" dirty="0" err="1"/>
              <a:t>are</a:t>
            </a:r>
            <a:r>
              <a:rPr lang="de-DE" sz="2000" dirty="0"/>
              <a:t> Young </a:t>
            </a:r>
            <a:r>
              <a:rPr lang="de-DE" sz="2000" dirty="0" err="1"/>
              <a:t>trees</a:t>
            </a:r>
            <a:r>
              <a:rPr lang="de-DE" sz="2000" dirty="0"/>
              <a:t>. In </a:t>
            </a:r>
            <a:r>
              <a:rPr lang="de-DE" sz="2000" dirty="0" err="1"/>
              <a:t>second</a:t>
            </a:r>
            <a:r>
              <a:rPr lang="de-DE" sz="2000" dirty="0"/>
              <a:t> </a:t>
            </a:r>
            <a:r>
              <a:rPr lang="de-DE" sz="2000" dirty="0" err="1"/>
              <a:t>pie</a:t>
            </a:r>
            <a:r>
              <a:rPr lang="de-DE" sz="2000" dirty="0"/>
              <a:t> </a:t>
            </a:r>
            <a:r>
              <a:rPr lang="de-DE" sz="2000" dirty="0" err="1"/>
              <a:t>chart</a:t>
            </a:r>
            <a:r>
              <a:rPr lang="de-DE" sz="2000" dirty="0"/>
              <a:t> 71.2% </a:t>
            </a:r>
            <a:r>
              <a:rPr lang="de-DE" sz="2000" dirty="0" err="1"/>
              <a:t>trees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in </a:t>
            </a:r>
            <a:r>
              <a:rPr lang="de-DE" sz="2000" dirty="0" err="1"/>
              <a:t>domain</a:t>
            </a:r>
            <a:r>
              <a:rPr lang="de-DE" sz="2000" dirty="0"/>
              <a:t> Alignment,12.7% in </a:t>
            </a:r>
            <a:r>
              <a:rPr lang="de-DE" sz="2000" dirty="0" err="1"/>
              <a:t>domain</a:t>
            </a:r>
            <a:r>
              <a:rPr lang="de-DE" sz="2000" dirty="0"/>
              <a:t> Garden ,9.9% in </a:t>
            </a:r>
            <a:r>
              <a:rPr lang="de-DE" sz="2000" dirty="0" err="1"/>
              <a:t>cemetry</a:t>
            </a:r>
            <a:r>
              <a:rPr lang="de-DE" sz="2000" dirty="0"/>
              <a:t> </a:t>
            </a:r>
            <a:r>
              <a:rPr lang="de-DE" sz="2000" dirty="0" err="1"/>
              <a:t>and</a:t>
            </a:r>
            <a:r>
              <a:rPr lang="de-DE" sz="2000" dirty="0"/>
              <a:t> 4.6% in </a:t>
            </a:r>
            <a:r>
              <a:rPr lang="de-DE" sz="2000" dirty="0" err="1"/>
              <a:t>Dasco</a:t>
            </a:r>
            <a:r>
              <a:rPr lang="de-DE" sz="2000" dirty="0"/>
              <a:t>.</a:t>
            </a:r>
            <a:endParaRPr lang="en-US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325" y="2011629"/>
            <a:ext cx="4649638" cy="311883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13" y="1862400"/>
            <a:ext cx="5130018" cy="326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6564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762" y="431321"/>
            <a:ext cx="9531154" cy="811428"/>
          </a:xfrm>
        </p:spPr>
        <p:txBody>
          <a:bodyPr>
            <a:normAutofit/>
          </a:bodyPr>
          <a:lstStyle/>
          <a:p>
            <a:r>
              <a:rPr lang="de-DE" sz="3200" dirty="0"/>
              <a:t>Region/Arrondissement </a:t>
            </a:r>
            <a:r>
              <a:rPr lang="de-DE" sz="3200" dirty="0" err="1"/>
              <a:t>with</a:t>
            </a:r>
            <a:r>
              <a:rPr lang="de-DE" sz="3200" dirty="0"/>
              <a:t> </a:t>
            </a:r>
            <a:r>
              <a:rPr lang="de-DE" sz="3200" dirty="0" err="1"/>
              <a:t>max</a:t>
            </a:r>
            <a:r>
              <a:rPr lang="de-DE" sz="3200" dirty="0"/>
              <a:t> </a:t>
            </a:r>
            <a:r>
              <a:rPr lang="de-DE" sz="3200" dirty="0" err="1"/>
              <a:t>number</a:t>
            </a:r>
            <a:r>
              <a:rPr lang="de-DE" sz="3200" dirty="0"/>
              <a:t> </a:t>
            </a:r>
            <a:r>
              <a:rPr lang="de-DE" sz="3200" dirty="0" err="1"/>
              <a:t>of</a:t>
            </a:r>
            <a:r>
              <a:rPr lang="de-DE" sz="3200" dirty="0"/>
              <a:t> </a:t>
            </a:r>
            <a:r>
              <a:rPr lang="de-DE" sz="3200" dirty="0" err="1"/>
              <a:t>trees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360" y="1483743"/>
            <a:ext cx="5415104" cy="484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0707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201" y="345056"/>
            <a:ext cx="9528738" cy="716537"/>
          </a:xfrm>
        </p:spPr>
        <p:txBody>
          <a:bodyPr>
            <a:normAutofit/>
          </a:bodyPr>
          <a:lstStyle/>
          <a:p>
            <a:r>
              <a:rPr lang="de-DE" sz="3200" dirty="0"/>
              <a:t>Top 10 </a:t>
            </a:r>
            <a:r>
              <a:rPr lang="de-DE" sz="3200" dirty="0" err="1"/>
              <a:t>tree_type</a:t>
            </a:r>
            <a:r>
              <a:rPr lang="de-DE" sz="3200" dirty="0"/>
              <a:t> in </a:t>
            </a:r>
            <a:r>
              <a:rPr lang="de-DE" sz="3200" dirty="0" err="1"/>
              <a:t>data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01" y="1413986"/>
            <a:ext cx="5570058" cy="417494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69813" y="1802921"/>
            <a:ext cx="42096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In </a:t>
            </a:r>
            <a:r>
              <a:rPr lang="de-DE" sz="1600" dirty="0" err="1"/>
              <a:t>this</a:t>
            </a:r>
            <a:r>
              <a:rPr lang="de-DE" sz="1600" dirty="0"/>
              <a:t> </a:t>
            </a:r>
            <a:r>
              <a:rPr lang="de-DE" sz="1600" dirty="0" err="1"/>
              <a:t>Piechart</a:t>
            </a:r>
            <a:r>
              <a:rPr lang="de-DE" sz="1600" dirty="0"/>
              <a:t> , </a:t>
            </a:r>
            <a:r>
              <a:rPr lang="de-DE" sz="1600" dirty="0" err="1"/>
              <a:t>we</a:t>
            </a:r>
            <a:r>
              <a:rPr lang="de-DE" sz="1600" dirty="0"/>
              <a:t> </a:t>
            </a:r>
            <a:r>
              <a:rPr lang="de-DE" sz="1600" dirty="0" err="1"/>
              <a:t>can</a:t>
            </a:r>
            <a:r>
              <a:rPr lang="de-DE" sz="1600" dirty="0"/>
              <a:t> </a:t>
            </a:r>
            <a:r>
              <a:rPr lang="de-DE" sz="1600" dirty="0" err="1"/>
              <a:t>see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10 </a:t>
            </a:r>
            <a:r>
              <a:rPr lang="de-DE" sz="1600" dirty="0" err="1"/>
              <a:t>most</a:t>
            </a:r>
            <a:r>
              <a:rPr lang="de-DE" sz="1600" dirty="0"/>
              <a:t> prominent </a:t>
            </a:r>
            <a:r>
              <a:rPr lang="de-DE" sz="1600" dirty="0" err="1"/>
              <a:t>tree_type</a:t>
            </a:r>
            <a:r>
              <a:rPr lang="de-DE" sz="1600" dirty="0"/>
              <a:t> in Paris. </a:t>
            </a:r>
            <a:r>
              <a:rPr lang="de-DE" sz="1600" dirty="0" err="1"/>
              <a:t>Here</a:t>
            </a:r>
            <a:r>
              <a:rPr lang="de-DE" sz="1600" dirty="0"/>
              <a:t> 34.8% </a:t>
            </a:r>
            <a:r>
              <a:rPr lang="de-DE" sz="1600" dirty="0" err="1"/>
              <a:t>are</a:t>
            </a:r>
            <a:r>
              <a:rPr lang="de-DE" sz="1600" dirty="0"/>
              <a:t> Platanus,19.2% </a:t>
            </a:r>
            <a:r>
              <a:rPr lang="de-DE" sz="1600" dirty="0" err="1"/>
              <a:t>are</a:t>
            </a:r>
            <a:r>
              <a:rPr lang="de-DE" sz="1600" dirty="0"/>
              <a:t> Aesculus,13.8% </a:t>
            </a:r>
            <a:r>
              <a:rPr lang="de-DE" sz="1600" dirty="0" err="1"/>
              <a:t>of</a:t>
            </a:r>
            <a:r>
              <a:rPr lang="de-DE" sz="1600" dirty="0"/>
              <a:t> total </a:t>
            </a:r>
            <a:r>
              <a:rPr lang="de-DE" sz="1600" dirty="0" err="1"/>
              <a:t>trees</a:t>
            </a:r>
            <a:r>
              <a:rPr lang="de-DE" sz="1600" dirty="0"/>
              <a:t> </a:t>
            </a:r>
            <a:r>
              <a:rPr lang="de-DE" sz="1600" dirty="0" err="1"/>
              <a:t>are</a:t>
            </a:r>
            <a:r>
              <a:rPr lang="de-DE" sz="1600" dirty="0"/>
              <a:t> Tilia,9.4% </a:t>
            </a:r>
            <a:r>
              <a:rPr lang="de-DE" sz="1600" dirty="0" err="1"/>
              <a:t>are</a:t>
            </a:r>
            <a:r>
              <a:rPr lang="de-DE" sz="1600" dirty="0"/>
              <a:t> Acer </a:t>
            </a:r>
            <a:r>
              <a:rPr lang="de-DE" sz="1600" dirty="0" err="1"/>
              <a:t>and</a:t>
            </a:r>
            <a:r>
              <a:rPr lang="de-DE" sz="1600" dirty="0"/>
              <a:t> so on.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003452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923" y="379562"/>
            <a:ext cx="9692640" cy="897304"/>
          </a:xfrm>
        </p:spPr>
        <p:txBody>
          <a:bodyPr>
            <a:normAutofit/>
          </a:bodyPr>
          <a:lstStyle/>
          <a:p>
            <a:r>
              <a:rPr lang="de-DE" sz="3200" dirty="0"/>
              <a:t>Top 10 </a:t>
            </a:r>
            <a:r>
              <a:rPr lang="de-DE" sz="3200" dirty="0" err="1"/>
              <a:t>tree_species</a:t>
            </a:r>
            <a:r>
              <a:rPr lang="de-DE" sz="3200" dirty="0"/>
              <a:t> in </a:t>
            </a:r>
            <a:r>
              <a:rPr lang="de-DE" sz="3200" dirty="0" err="1"/>
              <a:t>data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23" y="1633213"/>
            <a:ext cx="6669777" cy="43027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37894" y="1923691"/>
            <a:ext cx="2268748" cy="1630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7835" y="1759789"/>
            <a:ext cx="349369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In </a:t>
            </a:r>
            <a:r>
              <a:rPr lang="de-DE" sz="1600" dirty="0" err="1"/>
              <a:t>this</a:t>
            </a:r>
            <a:r>
              <a:rPr lang="de-DE" sz="1600" dirty="0"/>
              <a:t> </a:t>
            </a:r>
            <a:r>
              <a:rPr lang="de-DE" sz="1600" dirty="0" err="1"/>
              <a:t>piechart,the</a:t>
            </a:r>
            <a:r>
              <a:rPr lang="de-DE" sz="1600" dirty="0"/>
              <a:t> 10 prominent </a:t>
            </a:r>
            <a:r>
              <a:rPr lang="de-DE" sz="1600" dirty="0" err="1"/>
              <a:t>tree</a:t>
            </a:r>
            <a:r>
              <a:rPr lang="de-DE" sz="1600" dirty="0"/>
              <a:t> </a:t>
            </a:r>
            <a:r>
              <a:rPr lang="de-DE" sz="1600" dirty="0" err="1"/>
              <a:t>species</a:t>
            </a:r>
            <a:r>
              <a:rPr lang="de-DE" sz="1600" dirty="0"/>
              <a:t> in </a:t>
            </a:r>
            <a:r>
              <a:rPr lang="de-DE" sz="1600" dirty="0" err="1"/>
              <a:t>dataset</a:t>
            </a:r>
            <a:r>
              <a:rPr lang="de-DE" sz="1600" dirty="0"/>
              <a:t> </a:t>
            </a:r>
            <a:r>
              <a:rPr lang="de-DE" sz="1600" dirty="0" err="1"/>
              <a:t>are</a:t>
            </a:r>
            <a:r>
              <a:rPr lang="de-DE" sz="1600" dirty="0"/>
              <a:t> </a:t>
            </a:r>
            <a:r>
              <a:rPr lang="de-DE" sz="1600" dirty="0" err="1"/>
              <a:t>shown</a:t>
            </a:r>
            <a:r>
              <a:rPr lang="de-DE" sz="1600" dirty="0"/>
              <a:t>. The </a:t>
            </a:r>
            <a:r>
              <a:rPr lang="de-DE" sz="1600" dirty="0" err="1"/>
              <a:t>species</a:t>
            </a:r>
            <a:r>
              <a:rPr lang="de-DE" sz="1600" dirty="0"/>
              <a:t> </a:t>
            </a:r>
            <a:r>
              <a:rPr lang="de-DE" sz="1600" dirty="0" err="1"/>
              <a:t>x_hispanica</a:t>
            </a:r>
            <a:r>
              <a:rPr lang="de-DE" sz="1600" dirty="0"/>
              <a:t> </a:t>
            </a:r>
            <a:r>
              <a:rPr lang="de-DE" sz="1600" dirty="0" err="1"/>
              <a:t>has</a:t>
            </a:r>
            <a:r>
              <a:rPr lang="de-DE" sz="1600" dirty="0"/>
              <a:t> 36%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trees,Hippocastanum</a:t>
            </a:r>
            <a:r>
              <a:rPr lang="de-DE" sz="1600" dirty="0"/>
              <a:t> </a:t>
            </a:r>
            <a:r>
              <a:rPr lang="de-DE" sz="1600" dirty="0" err="1"/>
              <a:t>has</a:t>
            </a:r>
            <a:r>
              <a:rPr lang="de-DE" sz="1600" dirty="0"/>
              <a:t> 18.2%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trees</a:t>
            </a:r>
            <a:r>
              <a:rPr lang="de-DE" sz="1600" dirty="0"/>
              <a:t> </a:t>
            </a:r>
            <a:r>
              <a:rPr lang="de-DE" sz="1600" dirty="0" err="1"/>
              <a:t>among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first</a:t>
            </a:r>
            <a:r>
              <a:rPr lang="de-DE" sz="1600" dirty="0"/>
              <a:t> 10 prominent </a:t>
            </a:r>
            <a:r>
              <a:rPr lang="de-DE" sz="1600" dirty="0" err="1"/>
              <a:t>species</a:t>
            </a:r>
            <a:r>
              <a:rPr lang="de-DE" sz="1600" dirty="0"/>
              <a:t> </a:t>
            </a:r>
            <a:r>
              <a:rPr lang="de-DE" sz="1600" dirty="0" err="1"/>
              <a:t>and</a:t>
            </a:r>
            <a:r>
              <a:rPr lang="de-DE" sz="1600" dirty="0"/>
              <a:t> so on</a:t>
            </a:r>
            <a:r>
              <a:rPr lang="de-DE" dirty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2561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167" y="913222"/>
            <a:ext cx="7353300" cy="742950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0167" y="1595790"/>
            <a:ext cx="5098942" cy="492645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86596" y="224287"/>
            <a:ext cx="101187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 err="1"/>
              <a:t>Binning</a:t>
            </a:r>
            <a:r>
              <a:rPr lang="de-DE" sz="3200" dirty="0"/>
              <a:t> </a:t>
            </a:r>
            <a:r>
              <a:rPr lang="de-DE" sz="3200" dirty="0" err="1"/>
              <a:t>the</a:t>
            </a:r>
            <a:r>
              <a:rPr lang="de-DE" sz="3200" dirty="0"/>
              <a:t> </a:t>
            </a:r>
            <a:r>
              <a:rPr lang="de-DE" sz="3200" dirty="0" err="1"/>
              <a:t>data</a:t>
            </a:r>
            <a:r>
              <a:rPr lang="de-DE" sz="3200" dirty="0"/>
              <a:t> in </a:t>
            </a:r>
            <a:r>
              <a:rPr lang="de-DE" sz="3200" dirty="0" err="1"/>
              <a:t>three</a:t>
            </a:r>
            <a:r>
              <a:rPr lang="de-DE" sz="3200" dirty="0"/>
              <a:t> </a:t>
            </a:r>
            <a:r>
              <a:rPr lang="de-DE" sz="3200" dirty="0" err="1"/>
              <a:t>bins</a:t>
            </a:r>
            <a:r>
              <a:rPr lang="de-DE" sz="3200" dirty="0"/>
              <a:t> </a:t>
            </a:r>
            <a:r>
              <a:rPr lang="de-DE" sz="3200" dirty="0" err="1"/>
              <a:t>for</a:t>
            </a:r>
            <a:r>
              <a:rPr lang="de-DE" sz="3200" dirty="0"/>
              <a:t> </a:t>
            </a:r>
            <a:r>
              <a:rPr lang="de-DE" sz="3200" dirty="0" err="1"/>
              <a:t>circumference_cm</a:t>
            </a:r>
            <a:r>
              <a:rPr lang="de-DE" sz="3200" dirty="0"/>
              <a:t>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639553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208" y="744701"/>
            <a:ext cx="7875916" cy="60710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4208" y="159926"/>
            <a:ext cx="10770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Plot </a:t>
            </a:r>
            <a:r>
              <a:rPr lang="de-DE" sz="3200" dirty="0" err="1"/>
              <a:t>for</a:t>
            </a:r>
            <a:r>
              <a:rPr lang="de-DE" sz="3200" dirty="0"/>
              <a:t> </a:t>
            </a:r>
            <a:r>
              <a:rPr lang="de-DE" sz="3200" dirty="0" err="1"/>
              <a:t>trees</a:t>
            </a:r>
            <a:r>
              <a:rPr lang="de-DE" sz="3200" dirty="0"/>
              <a:t> in </a:t>
            </a:r>
            <a:r>
              <a:rPr lang="de-DE" sz="3200" dirty="0" err="1"/>
              <a:t>each</a:t>
            </a:r>
            <a:r>
              <a:rPr lang="de-DE" sz="3200" dirty="0"/>
              <a:t> </a:t>
            </a:r>
            <a:r>
              <a:rPr lang="de-DE" sz="3200" dirty="0" err="1"/>
              <a:t>domain</a:t>
            </a:r>
            <a:r>
              <a:rPr lang="de-DE" sz="3200" dirty="0"/>
              <a:t> </a:t>
            </a:r>
            <a:r>
              <a:rPr lang="de-DE" sz="3200" dirty="0" err="1"/>
              <a:t>acc</a:t>
            </a:r>
            <a:r>
              <a:rPr lang="de-DE" sz="3200" dirty="0"/>
              <a:t>. </a:t>
            </a:r>
            <a:r>
              <a:rPr lang="de-DE" sz="3200" dirty="0" err="1"/>
              <a:t>to</a:t>
            </a:r>
            <a:r>
              <a:rPr lang="de-DE" sz="3200" dirty="0"/>
              <a:t> </a:t>
            </a:r>
            <a:r>
              <a:rPr lang="de-DE" sz="3200" dirty="0" err="1"/>
              <a:t>circumference</a:t>
            </a:r>
            <a:r>
              <a:rPr lang="de-DE" sz="3200" dirty="0"/>
              <a:t> </a:t>
            </a:r>
            <a:r>
              <a:rPr lang="de-DE" sz="3200" dirty="0" err="1"/>
              <a:t>bins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587427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8701637" cy="1325562"/>
          </a:xfrm>
        </p:spPr>
        <p:txBody>
          <a:bodyPr>
            <a:normAutofit/>
          </a:bodyPr>
          <a:lstStyle/>
          <a:p>
            <a:r>
              <a:rPr lang="de-DE" sz="3600" dirty="0"/>
              <a:t>Observation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828800"/>
            <a:ext cx="8624000" cy="4351337"/>
          </a:xfrm>
        </p:spPr>
        <p:txBody>
          <a:bodyPr/>
          <a:lstStyle/>
          <a:p>
            <a:r>
              <a:rPr lang="de-DE" dirty="0"/>
              <a:t>As </a:t>
            </a:r>
            <a:r>
              <a:rPr lang="de-DE" dirty="0" err="1"/>
              <a:t>alignment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domain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maximum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trees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info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trees</a:t>
            </a:r>
            <a:r>
              <a:rPr lang="de-DE" dirty="0"/>
              <a:t> in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domains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readable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visualization</a:t>
            </a:r>
            <a:r>
              <a:rPr lang="de-DE" dirty="0"/>
              <a:t> ,</a:t>
            </a:r>
            <a:r>
              <a:rPr lang="de-DE" dirty="0" err="1"/>
              <a:t>therefore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remove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in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visualization</a:t>
            </a:r>
            <a:r>
              <a:rPr lang="de-DE" dirty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5114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253" y="266240"/>
            <a:ext cx="9616365" cy="704757"/>
          </a:xfrm>
        </p:spPr>
        <p:txBody>
          <a:bodyPr>
            <a:normAutofit/>
          </a:bodyPr>
          <a:lstStyle/>
          <a:p>
            <a:r>
              <a:rPr lang="de-DE" sz="3200" dirty="0" err="1"/>
              <a:t>For</a:t>
            </a:r>
            <a:r>
              <a:rPr lang="de-DE" sz="3200" dirty="0"/>
              <a:t> all 8 </a:t>
            </a:r>
            <a:r>
              <a:rPr lang="de-DE" sz="3200" dirty="0" err="1"/>
              <a:t>domains</a:t>
            </a:r>
            <a:r>
              <a:rPr lang="de-DE" sz="3200" dirty="0"/>
              <a:t> (</a:t>
            </a:r>
            <a:r>
              <a:rPr lang="de-DE" sz="3200" dirty="0" err="1"/>
              <a:t>leaving</a:t>
            </a:r>
            <a:r>
              <a:rPr lang="de-DE" sz="3200" dirty="0"/>
              <a:t> </a:t>
            </a:r>
            <a:r>
              <a:rPr lang="de-DE" sz="3200" dirty="0" err="1"/>
              <a:t>Alignment</a:t>
            </a:r>
            <a:r>
              <a:rPr lang="de-DE" sz="3200" dirty="0"/>
              <a:t>)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11" y="1126272"/>
            <a:ext cx="6083806" cy="554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2197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0670" y="166124"/>
            <a:ext cx="9792578" cy="793855"/>
          </a:xfrm>
        </p:spPr>
        <p:txBody>
          <a:bodyPr>
            <a:normAutofit fontScale="90000"/>
          </a:bodyPr>
          <a:lstStyle/>
          <a:p>
            <a:r>
              <a:rPr lang="de-DE" sz="3600" dirty="0" err="1"/>
              <a:t>Obtaining</a:t>
            </a:r>
            <a:r>
              <a:rPr lang="de-DE" sz="3600" dirty="0"/>
              <a:t> </a:t>
            </a:r>
            <a:r>
              <a:rPr lang="de-DE" sz="3600" dirty="0" err="1"/>
              <a:t>the</a:t>
            </a:r>
            <a:r>
              <a:rPr lang="de-DE" sz="3600" dirty="0"/>
              <a:t> </a:t>
            </a:r>
            <a:r>
              <a:rPr lang="de-DE" sz="3600" dirty="0" err="1"/>
              <a:t>plot</a:t>
            </a:r>
            <a:r>
              <a:rPr lang="de-DE" sz="3600" dirty="0"/>
              <a:t> </a:t>
            </a:r>
            <a:r>
              <a:rPr lang="de-DE" sz="3600" dirty="0" err="1"/>
              <a:t>for</a:t>
            </a:r>
            <a:r>
              <a:rPr lang="de-DE" sz="3600" dirty="0"/>
              <a:t> 8 </a:t>
            </a:r>
            <a:r>
              <a:rPr lang="de-DE" sz="3600" dirty="0" err="1"/>
              <a:t>domains</a:t>
            </a:r>
            <a:r>
              <a:rPr lang="de-DE" sz="3600" dirty="0"/>
              <a:t>(</a:t>
            </a:r>
            <a:r>
              <a:rPr lang="de-DE" sz="3600" dirty="0" err="1"/>
              <a:t>leaving</a:t>
            </a:r>
            <a:r>
              <a:rPr lang="de-DE" sz="3600" dirty="0"/>
              <a:t> </a:t>
            </a:r>
            <a:r>
              <a:rPr lang="de-DE" sz="3600" dirty="0" err="1"/>
              <a:t>Alignment</a:t>
            </a:r>
            <a:r>
              <a:rPr lang="de-DE" sz="3600" dirty="0"/>
              <a:t>)</a:t>
            </a:r>
            <a:endParaRPr lang="en-US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670" y="959979"/>
            <a:ext cx="6764126" cy="579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9569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659" y="1289829"/>
            <a:ext cx="9789967" cy="406055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52091" y="258792"/>
            <a:ext cx="106191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Domain </a:t>
            </a:r>
            <a:r>
              <a:rPr lang="de-DE" sz="3200" dirty="0" err="1"/>
              <a:t>Alignment</a:t>
            </a:r>
            <a:r>
              <a:rPr lang="de-DE" sz="3200" dirty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1249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987" y="753438"/>
            <a:ext cx="8121843" cy="61045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5721" y="97329"/>
            <a:ext cx="11084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 err="1"/>
              <a:t>Plotting</a:t>
            </a:r>
            <a:r>
              <a:rPr lang="de-DE" sz="3200" dirty="0"/>
              <a:t> </a:t>
            </a:r>
            <a:r>
              <a:rPr lang="de-DE" sz="3200" dirty="0" err="1"/>
              <a:t>data</a:t>
            </a:r>
            <a:r>
              <a:rPr lang="de-DE" sz="3200" dirty="0"/>
              <a:t> </a:t>
            </a:r>
            <a:r>
              <a:rPr lang="de-DE" sz="3200" dirty="0" err="1"/>
              <a:t>for</a:t>
            </a:r>
            <a:r>
              <a:rPr lang="de-DE" sz="3200" dirty="0"/>
              <a:t> </a:t>
            </a:r>
            <a:r>
              <a:rPr lang="de-DE" sz="3200" dirty="0" err="1"/>
              <a:t>domain</a:t>
            </a:r>
            <a:r>
              <a:rPr lang="de-DE" sz="3200" dirty="0"/>
              <a:t> </a:t>
            </a:r>
            <a:r>
              <a:rPr lang="de-DE" sz="3200" dirty="0" err="1"/>
              <a:t>Alignment</a:t>
            </a:r>
            <a:r>
              <a:rPr lang="de-DE" sz="3200" dirty="0"/>
              <a:t> &amp; </a:t>
            </a:r>
            <a:r>
              <a:rPr lang="de-DE" sz="3200" dirty="0" err="1"/>
              <a:t>circumference</a:t>
            </a:r>
            <a:r>
              <a:rPr lang="de-DE" sz="3200" dirty="0"/>
              <a:t> </a:t>
            </a:r>
            <a:r>
              <a:rPr lang="de-DE" sz="3200" dirty="0" err="1"/>
              <a:t>bins</a:t>
            </a:r>
            <a:r>
              <a:rPr lang="de-DE" sz="3200" dirty="0"/>
              <a:t> 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8410754" y="1565072"/>
            <a:ext cx="759125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69879" y="1422405"/>
            <a:ext cx="1535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Arrondissements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106947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804" y="327803"/>
            <a:ext cx="10748513" cy="983953"/>
          </a:xfrm>
        </p:spPr>
        <p:txBody>
          <a:bodyPr>
            <a:noAutofit/>
          </a:bodyPr>
          <a:lstStyle/>
          <a:p>
            <a:r>
              <a:rPr lang="de-DE" sz="3200" dirty="0" err="1"/>
              <a:t>For</a:t>
            </a:r>
            <a:r>
              <a:rPr lang="de-DE" sz="3200" dirty="0"/>
              <a:t> </a:t>
            </a:r>
            <a:r>
              <a:rPr lang="de-DE" sz="3200" dirty="0" err="1"/>
              <a:t>domain</a:t>
            </a:r>
            <a:r>
              <a:rPr lang="de-DE" sz="3200" dirty="0"/>
              <a:t> </a:t>
            </a:r>
            <a:r>
              <a:rPr lang="de-DE" sz="3200" dirty="0" err="1"/>
              <a:t>Alignment</a:t>
            </a:r>
            <a:r>
              <a:rPr lang="de-DE" sz="3200" dirty="0"/>
              <a:t>: </a:t>
            </a:r>
            <a:r>
              <a:rPr lang="de-DE" sz="3200" dirty="0" err="1"/>
              <a:t>counting</a:t>
            </a:r>
            <a:r>
              <a:rPr lang="de-DE" sz="3200" dirty="0"/>
              <a:t> </a:t>
            </a:r>
            <a:r>
              <a:rPr lang="de-DE" sz="3200" dirty="0" err="1"/>
              <a:t>trees</a:t>
            </a:r>
            <a:r>
              <a:rPr lang="de-DE" sz="3200" dirty="0"/>
              <a:t> </a:t>
            </a:r>
            <a:r>
              <a:rPr lang="de-DE" sz="3200" dirty="0" err="1"/>
              <a:t>according</a:t>
            </a:r>
            <a:r>
              <a:rPr lang="de-DE" sz="3200" dirty="0"/>
              <a:t> </a:t>
            </a:r>
            <a:r>
              <a:rPr lang="de-DE" sz="3200" dirty="0" err="1"/>
              <a:t>to</a:t>
            </a:r>
            <a:r>
              <a:rPr lang="de-DE" sz="3200" dirty="0"/>
              <a:t> </a:t>
            </a:r>
            <a:r>
              <a:rPr lang="de-DE" sz="3200" dirty="0" err="1"/>
              <a:t>development_stage</a:t>
            </a:r>
            <a:endParaRPr lang="en-US" sz="32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788" y="1814881"/>
            <a:ext cx="9865163" cy="282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13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042" y="650429"/>
            <a:ext cx="7531591" cy="6107995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89782" y="175434"/>
            <a:ext cx="11481758" cy="474995"/>
          </a:xfrm>
        </p:spPr>
        <p:txBody>
          <a:bodyPr>
            <a:noAutofit/>
          </a:bodyPr>
          <a:lstStyle/>
          <a:p>
            <a:r>
              <a:rPr lang="de-DE" sz="3200" dirty="0" err="1"/>
              <a:t>For</a:t>
            </a:r>
            <a:r>
              <a:rPr lang="de-DE" sz="3200" dirty="0"/>
              <a:t> </a:t>
            </a:r>
            <a:r>
              <a:rPr lang="de-DE" sz="3200" dirty="0" err="1"/>
              <a:t>domain</a:t>
            </a:r>
            <a:r>
              <a:rPr lang="de-DE" sz="3200" dirty="0"/>
              <a:t> </a:t>
            </a:r>
            <a:r>
              <a:rPr lang="de-DE" sz="3200" dirty="0" err="1"/>
              <a:t>Alignment:Plot</a:t>
            </a:r>
            <a:r>
              <a:rPr lang="de-DE" sz="3200" dirty="0"/>
              <a:t> </a:t>
            </a:r>
            <a:r>
              <a:rPr lang="de-DE" sz="3200" dirty="0" err="1"/>
              <a:t>according</a:t>
            </a:r>
            <a:r>
              <a:rPr lang="de-DE" sz="3200" dirty="0"/>
              <a:t> </a:t>
            </a:r>
            <a:r>
              <a:rPr lang="de-DE" sz="3200" dirty="0" err="1"/>
              <a:t>to</a:t>
            </a:r>
            <a:r>
              <a:rPr lang="de-DE" sz="3200" dirty="0"/>
              <a:t> </a:t>
            </a:r>
            <a:r>
              <a:rPr lang="de-DE" sz="3200" dirty="0" err="1"/>
              <a:t>development_stage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897698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112" y="207035"/>
            <a:ext cx="10274062" cy="579286"/>
          </a:xfrm>
        </p:spPr>
        <p:txBody>
          <a:bodyPr>
            <a:noAutofit/>
          </a:bodyPr>
          <a:lstStyle/>
          <a:p>
            <a:r>
              <a:rPr lang="de-DE" sz="3200" dirty="0" err="1"/>
              <a:t>For</a:t>
            </a:r>
            <a:r>
              <a:rPr lang="de-DE" sz="3200" dirty="0"/>
              <a:t> </a:t>
            </a:r>
            <a:r>
              <a:rPr lang="de-DE" sz="3200" dirty="0" err="1"/>
              <a:t>domain</a:t>
            </a:r>
            <a:r>
              <a:rPr lang="de-DE" sz="3200" dirty="0"/>
              <a:t> Garden(</a:t>
            </a:r>
            <a:r>
              <a:rPr lang="de-DE" sz="3200" dirty="0" err="1"/>
              <a:t>trees</a:t>
            </a:r>
            <a:r>
              <a:rPr lang="de-DE" sz="3200" dirty="0"/>
              <a:t> </a:t>
            </a:r>
            <a:r>
              <a:rPr lang="de-DE" sz="3200" dirty="0" err="1"/>
              <a:t>according</a:t>
            </a:r>
            <a:r>
              <a:rPr lang="de-DE" sz="3200" dirty="0"/>
              <a:t> </a:t>
            </a:r>
            <a:r>
              <a:rPr lang="de-DE" sz="3200" dirty="0" err="1"/>
              <a:t>to</a:t>
            </a:r>
            <a:r>
              <a:rPr lang="de-DE" sz="3200" dirty="0"/>
              <a:t> </a:t>
            </a:r>
            <a:r>
              <a:rPr lang="de-DE" sz="3200" dirty="0" err="1"/>
              <a:t>arrondissement</a:t>
            </a:r>
            <a:r>
              <a:rPr lang="de-DE" sz="3200" dirty="0"/>
              <a:t>)</a:t>
            </a:r>
            <a:endParaRPr lang="en-US" sz="36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720" y="889837"/>
            <a:ext cx="8118772" cy="569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4926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238" y="517585"/>
            <a:ext cx="9760270" cy="721481"/>
          </a:xfrm>
        </p:spPr>
        <p:txBody>
          <a:bodyPr>
            <a:normAutofit/>
          </a:bodyPr>
          <a:lstStyle/>
          <a:p>
            <a:r>
              <a:rPr lang="de-DE" sz="3200" dirty="0"/>
              <a:t>Analysis </a:t>
            </a:r>
            <a:r>
              <a:rPr lang="de-DE" sz="3200" dirty="0" err="1"/>
              <a:t>based</a:t>
            </a:r>
            <a:r>
              <a:rPr lang="de-DE" sz="3200" dirty="0"/>
              <a:t> on </a:t>
            </a:r>
            <a:r>
              <a:rPr lang="de-DE" sz="3200" dirty="0" err="1"/>
              <a:t>tree_type</a:t>
            </a:r>
            <a:r>
              <a:rPr lang="de-DE" sz="3200" dirty="0"/>
              <a:t>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238" y="1594240"/>
            <a:ext cx="8615373" cy="3968152"/>
          </a:xfrm>
        </p:spPr>
        <p:txBody>
          <a:bodyPr/>
          <a:lstStyle/>
          <a:p>
            <a:r>
              <a:rPr lang="de-DE" dirty="0"/>
              <a:t>As </a:t>
            </a:r>
            <a:r>
              <a:rPr lang="de-DE" dirty="0" err="1"/>
              <a:t>Platanus</a:t>
            </a:r>
            <a:r>
              <a:rPr lang="de-DE" dirty="0"/>
              <a:t> was in </a:t>
            </a:r>
            <a:r>
              <a:rPr lang="de-DE" dirty="0" err="1"/>
              <a:t>majority</a:t>
            </a:r>
            <a:r>
              <a:rPr lang="de-DE" dirty="0"/>
              <a:t> in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set</a:t>
            </a:r>
            <a:r>
              <a:rPr lang="de-DE" dirty="0"/>
              <a:t>.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tried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exact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trees</a:t>
            </a:r>
            <a:r>
              <a:rPr lang="de-DE" dirty="0"/>
              <a:t> in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domain</a:t>
            </a:r>
            <a:r>
              <a:rPr lang="de-DE" dirty="0"/>
              <a:t> .</a:t>
            </a:r>
          </a:p>
          <a:p>
            <a:r>
              <a:rPr lang="de-DE" dirty="0"/>
              <a:t>This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useful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care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particular</a:t>
            </a:r>
            <a:r>
              <a:rPr lang="de-DE" dirty="0"/>
              <a:t> type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tree</a:t>
            </a:r>
            <a:r>
              <a:rPr lang="de-DE" dirty="0"/>
              <a:t> in a </a:t>
            </a:r>
            <a:r>
              <a:rPr lang="de-DE" dirty="0" err="1"/>
              <a:t>particular</a:t>
            </a:r>
            <a:r>
              <a:rPr lang="de-DE" dirty="0"/>
              <a:t> </a:t>
            </a:r>
            <a:r>
              <a:rPr lang="de-DE" dirty="0" err="1"/>
              <a:t>month</a:t>
            </a:r>
            <a:r>
              <a:rPr lang="de-DE" dirty="0"/>
              <a:t>. The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visits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planned</a:t>
            </a:r>
            <a:r>
              <a:rPr lang="de-DE" dirty="0"/>
              <a:t> </a:t>
            </a:r>
            <a:r>
              <a:rPr lang="de-DE" dirty="0" err="1"/>
              <a:t>according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trees</a:t>
            </a:r>
            <a:r>
              <a:rPr lang="de-DE" dirty="0"/>
              <a:t> in a </a:t>
            </a:r>
            <a:r>
              <a:rPr lang="de-DE" dirty="0" err="1"/>
              <a:t>particular</a:t>
            </a:r>
            <a:r>
              <a:rPr lang="de-DE" dirty="0"/>
              <a:t> </a:t>
            </a:r>
            <a:r>
              <a:rPr lang="de-DE" dirty="0" err="1"/>
              <a:t>domain</a:t>
            </a:r>
            <a:r>
              <a:rPr lang="de-DE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0723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31" y="663217"/>
            <a:ext cx="8116210" cy="1105197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3631" y="1768415"/>
            <a:ext cx="4115285" cy="4956763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93631" y="138022"/>
            <a:ext cx="9289583" cy="525195"/>
          </a:xfrm>
        </p:spPr>
        <p:txBody>
          <a:bodyPr>
            <a:noAutofit/>
          </a:bodyPr>
          <a:lstStyle/>
          <a:p>
            <a:r>
              <a:rPr lang="de-DE" sz="3200" dirty="0"/>
              <a:t>Analysis </a:t>
            </a:r>
            <a:r>
              <a:rPr lang="de-DE" sz="3200" dirty="0" err="1"/>
              <a:t>of</a:t>
            </a:r>
            <a:r>
              <a:rPr lang="de-DE" sz="3200" dirty="0"/>
              <a:t> </a:t>
            </a:r>
            <a:r>
              <a:rPr lang="de-DE" sz="3200" dirty="0" err="1"/>
              <a:t>tree</a:t>
            </a:r>
            <a:r>
              <a:rPr lang="de-DE" sz="3200" dirty="0"/>
              <a:t> type </a:t>
            </a:r>
            <a:r>
              <a:rPr lang="de-DE" sz="3200" dirty="0" err="1"/>
              <a:t>Platanus</a:t>
            </a:r>
            <a:r>
              <a:rPr lang="de-DE" sz="3200" dirty="0"/>
              <a:t>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616646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434" y="362309"/>
            <a:ext cx="9686430" cy="604394"/>
          </a:xfrm>
        </p:spPr>
        <p:txBody>
          <a:bodyPr>
            <a:normAutofit fontScale="90000"/>
          </a:bodyPr>
          <a:lstStyle/>
          <a:p>
            <a:r>
              <a:rPr lang="de-DE" sz="3200" dirty="0"/>
              <a:t>Distribution </a:t>
            </a:r>
            <a:r>
              <a:rPr lang="de-DE" sz="3200" dirty="0" err="1"/>
              <a:t>of</a:t>
            </a:r>
            <a:r>
              <a:rPr lang="de-DE" sz="3200" dirty="0"/>
              <a:t> </a:t>
            </a:r>
            <a:r>
              <a:rPr lang="de-DE" sz="3200" dirty="0" err="1"/>
              <a:t>tree_type</a:t>
            </a:r>
            <a:r>
              <a:rPr lang="de-DE" sz="3200" dirty="0"/>
              <a:t> </a:t>
            </a:r>
            <a:r>
              <a:rPr lang="de-DE" sz="3200" dirty="0" err="1"/>
              <a:t>Platanus</a:t>
            </a:r>
            <a:r>
              <a:rPr lang="de-DE" sz="3200" dirty="0"/>
              <a:t> </a:t>
            </a:r>
            <a:r>
              <a:rPr lang="de-DE" sz="3200" dirty="0" err="1"/>
              <a:t>as</a:t>
            </a:r>
            <a:r>
              <a:rPr lang="de-DE" sz="3200" dirty="0"/>
              <a:t> per </a:t>
            </a:r>
            <a:r>
              <a:rPr lang="de-DE" sz="3200" dirty="0" err="1"/>
              <a:t>development_stage</a:t>
            </a:r>
            <a:endParaRPr lang="en-US" sz="32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4619" y="966703"/>
            <a:ext cx="8238226" cy="552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882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725" y="2151428"/>
            <a:ext cx="9692640" cy="1325562"/>
          </a:xfrm>
        </p:spPr>
        <p:txBody>
          <a:bodyPr/>
          <a:lstStyle/>
          <a:p>
            <a:pPr algn="ctr"/>
            <a:r>
              <a:rPr lang="de-DE" dirty="0">
                <a:latin typeface="Algerian" panose="04020705040A02060702" pitchFamily="82" charset="0"/>
              </a:rPr>
              <a:t>INFERENCE</a:t>
            </a:r>
            <a:endParaRPr lang="en-US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8841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422" y="301925"/>
            <a:ext cx="9447484" cy="1117717"/>
          </a:xfrm>
        </p:spPr>
        <p:txBody>
          <a:bodyPr>
            <a:noAutofit/>
          </a:bodyPr>
          <a:lstStyle/>
          <a:p>
            <a:r>
              <a:rPr lang="de-DE" sz="3200" dirty="0" err="1"/>
              <a:t>Propositions</a:t>
            </a:r>
            <a:r>
              <a:rPr lang="de-DE" sz="3200" dirty="0"/>
              <a:t> </a:t>
            </a:r>
            <a:r>
              <a:rPr lang="de-DE" sz="3200" dirty="0" err="1"/>
              <a:t>to</a:t>
            </a:r>
            <a:r>
              <a:rPr lang="de-DE" sz="3200" dirty="0"/>
              <a:t> </a:t>
            </a:r>
            <a:r>
              <a:rPr lang="de-DE" sz="3200" dirty="0" err="1"/>
              <a:t>Optimize</a:t>
            </a:r>
            <a:r>
              <a:rPr lang="de-DE" sz="3200" dirty="0"/>
              <a:t> City </a:t>
            </a:r>
            <a:r>
              <a:rPr lang="de-DE" sz="3200" dirty="0" err="1"/>
              <a:t>Tree</a:t>
            </a:r>
            <a:r>
              <a:rPr lang="de-DE" sz="3200" dirty="0"/>
              <a:t> Maintenance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422" y="1419643"/>
            <a:ext cx="9159334" cy="4980479"/>
          </a:xfrm>
        </p:spPr>
        <p:txBody>
          <a:bodyPr>
            <a:normAutofit/>
          </a:bodyPr>
          <a:lstStyle/>
          <a:p>
            <a:pPr algn="just"/>
            <a:r>
              <a:rPr lang="de-DE" dirty="0"/>
              <a:t>Analysis </a:t>
            </a:r>
            <a:r>
              <a:rPr lang="de-DE" dirty="0" err="1"/>
              <a:t>helps</a:t>
            </a:r>
            <a:r>
              <a:rPr lang="de-DE" dirty="0"/>
              <a:t> in </a:t>
            </a:r>
            <a:r>
              <a:rPr lang="de-DE" dirty="0" err="1"/>
              <a:t>planning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visits</a:t>
            </a:r>
            <a:r>
              <a:rPr lang="de-DE" dirty="0"/>
              <a:t> in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domains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tree</a:t>
            </a:r>
            <a:r>
              <a:rPr lang="de-DE" dirty="0"/>
              <a:t> </a:t>
            </a:r>
            <a:r>
              <a:rPr lang="de-DE" dirty="0" err="1"/>
              <a:t>count</a:t>
            </a:r>
            <a:r>
              <a:rPr lang="de-DE" dirty="0"/>
              <a:t> </a:t>
            </a:r>
            <a:r>
              <a:rPr lang="de-DE" dirty="0" err="1"/>
              <a:t>according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development</a:t>
            </a:r>
            <a:r>
              <a:rPr lang="de-DE" dirty="0"/>
              <a:t> </a:t>
            </a:r>
            <a:r>
              <a:rPr lang="de-DE" dirty="0" err="1"/>
              <a:t>stages</a:t>
            </a:r>
            <a:r>
              <a:rPr lang="de-DE" dirty="0"/>
              <a:t>(J,JA,A,M) e.g. </a:t>
            </a:r>
            <a:r>
              <a:rPr lang="de-DE" dirty="0" err="1"/>
              <a:t>domain</a:t>
            </a:r>
            <a:r>
              <a:rPr lang="de-DE" dirty="0"/>
              <a:t> </a:t>
            </a:r>
            <a:r>
              <a:rPr lang="de-DE" dirty="0" err="1"/>
              <a:t>alignment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16802 </a:t>
            </a:r>
            <a:r>
              <a:rPr lang="de-DE" dirty="0" err="1"/>
              <a:t>trees</a:t>
            </a:r>
            <a:r>
              <a:rPr lang="de-DE" dirty="0"/>
              <a:t> in J </a:t>
            </a:r>
            <a:r>
              <a:rPr lang="de-DE" dirty="0" err="1"/>
              <a:t>and</a:t>
            </a:r>
            <a:r>
              <a:rPr lang="de-DE" dirty="0"/>
              <a:t> 20503 </a:t>
            </a:r>
            <a:r>
              <a:rPr lang="de-DE" dirty="0" err="1"/>
              <a:t>trees</a:t>
            </a:r>
            <a:r>
              <a:rPr lang="de-DE" dirty="0"/>
              <a:t> in JA. So </a:t>
            </a:r>
            <a:r>
              <a:rPr lang="de-DE" dirty="0" err="1"/>
              <a:t>visits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staff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planned</a:t>
            </a:r>
            <a:r>
              <a:rPr lang="de-DE" dirty="0"/>
              <a:t> </a:t>
            </a:r>
            <a:r>
              <a:rPr lang="de-DE" dirty="0" err="1"/>
              <a:t>accordingly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care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young</a:t>
            </a:r>
            <a:r>
              <a:rPr lang="de-DE" dirty="0"/>
              <a:t> </a:t>
            </a:r>
            <a:r>
              <a:rPr lang="de-DE" dirty="0" err="1"/>
              <a:t>trees</a:t>
            </a:r>
            <a:r>
              <a:rPr lang="de-DE" dirty="0"/>
              <a:t>.(</a:t>
            </a:r>
            <a:r>
              <a:rPr lang="de-DE" dirty="0" err="1"/>
              <a:t>slide</a:t>
            </a:r>
            <a:r>
              <a:rPr lang="de-DE" dirty="0"/>
              <a:t> 41,42)</a:t>
            </a:r>
          </a:p>
          <a:p>
            <a:pPr algn="just"/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optimizing</a:t>
            </a:r>
            <a:r>
              <a:rPr lang="de-DE" dirty="0"/>
              <a:t> </a:t>
            </a:r>
            <a:r>
              <a:rPr lang="de-DE" dirty="0" err="1"/>
              <a:t>visits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a </a:t>
            </a:r>
            <a:r>
              <a:rPr lang="de-DE" dirty="0" err="1"/>
              <a:t>particular</a:t>
            </a:r>
            <a:r>
              <a:rPr lang="de-DE" dirty="0"/>
              <a:t> </a:t>
            </a:r>
            <a:r>
              <a:rPr lang="de-DE" dirty="0" err="1"/>
              <a:t>tree_type</a:t>
            </a:r>
            <a:r>
              <a:rPr lang="de-DE" dirty="0"/>
              <a:t> ,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exact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trees</a:t>
            </a:r>
            <a:r>
              <a:rPr lang="de-DE" dirty="0"/>
              <a:t> in different </a:t>
            </a:r>
            <a:r>
              <a:rPr lang="de-DE" dirty="0" err="1"/>
              <a:t>domains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.e.g. 4751 </a:t>
            </a:r>
            <a:r>
              <a:rPr lang="de-DE" dirty="0" err="1"/>
              <a:t>Platanus</a:t>
            </a:r>
            <a:r>
              <a:rPr lang="de-DE" dirty="0"/>
              <a:t> </a:t>
            </a:r>
            <a:r>
              <a:rPr lang="de-DE" dirty="0" err="1"/>
              <a:t>trees</a:t>
            </a:r>
            <a:r>
              <a:rPr lang="de-DE" dirty="0"/>
              <a:t> in J </a:t>
            </a:r>
            <a:r>
              <a:rPr lang="de-DE" dirty="0" err="1"/>
              <a:t>development</a:t>
            </a:r>
            <a:r>
              <a:rPr lang="de-DE" dirty="0"/>
              <a:t> </a:t>
            </a:r>
            <a:r>
              <a:rPr lang="de-DE" dirty="0" err="1"/>
              <a:t>stage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present</a:t>
            </a:r>
            <a:r>
              <a:rPr lang="de-DE" dirty="0"/>
              <a:t> in </a:t>
            </a:r>
            <a:r>
              <a:rPr lang="de-DE" dirty="0" err="1"/>
              <a:t>domain</a:t>
            </a:r>
            <a:r>
              <a:rPr lang="de-DE" dirty="0"/>
              <a:t> </a:t>
            </a:r>
            <a:r>
              <a:rPr lang="de-DE" dirty="0" err="1"/>
              <a:t>alignment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6407 </a:t>
            </a:r>
            <a:r>
              <a:rPr lang="de-DE" dirty="0" err="1"/>
              <a:t>Platanus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in JA </a:t>
            </a:r>
            <a:r>
              <a:rPr lang="de-DE" dirty="0" err="1"/>
              <a:t>development</a:t>
            </a:r>
            <a:r>
              <a:rPr lang="de-DE" dirty="0"/>
              <a:t> </a:t>
            </a:r>
            <a:r>
              <a:rPr lang="de-DE" dirty="0" err="1"/>
              <a:t>stage.These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effectively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planning</a:t>
            </a:r>
            <a:r>
              <a:rPr lang="de-DE" dirty="0"/>
              <a:t> </a:t>
            </a:r>
            <a:r>
              <a:rPr lang="de-DE" dirty="0" err="1"/>
              <a:t>visits</a:t>
            </a:r>
            <a:r>
              <a:rPr lang="de-DE" dirty="0"/>
              <a:t>.(</a:t>
            </a:r>
            <a:r>
              <a:rPr lang="de-DE" dirty="0" err="1"/>
              <a:t>slide</a:t>
            </a:r>
            <a:r>
              <a:rPr lang="de-DE" dirty="0"/>
              <a:t> 45,46)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7925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725" y="2151428"/>
            <a:ext cx="9692640" cy="1325562"/>
          </a:xfrm>
        </p:spPr>
        <p:txBody>
          <a:bodyPr/>
          <a:lstStyle/>
          <a:p>
            <a:pPr algn="ctr"/>
            <a:r>
              <a:rPr lang="de-DE" dirty="0">
                <a:latin typeface="Algerian" panose="04020705040A02060702" pitchFamily="82" charset="0"/>
              </a:rPr>
              <a:t>THANKS</a:t>
            </a:r>
            <a:endParaRPr lang="en-US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537138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0D5B2C09C78542B5CB1BD779DAE4CE" ma:contentTypeVersion="13" ma:contentTypeDescription="Crée un document." ma:contentTypeScope="" ma:versionID="b439e2c0eb9623cc5a97f05456fe382a">
  <xsd:schema xmlns:xsd="http://www.w3.org/2001/XMLSchema" xmlns:xs="http://www.w3.org/2001/XMLSchema" xmlns:p="http://schemas.microsoft.com/office/2006/metadata/properties" xmlns:ns3="b454aa10-6afe-48ac-8945-ed155371d902" xmlns:ns4="591a287c-e83d-46a5-8593-596ae72e91ca" targetNamespace="http://schemas.microsoft.com/office/2006/metadata/properties" ma:root="true" ma:fieldsID="ce400c74876b970aa57c454a60f65f26" ns3:_="" ns4:_="">
    <xsd:import namespace="b454aa10-6afe-48ac-8945-ed155371d902"/>
    <xsd:import namespace="591a287c-e83d-46a5-8593-596ae72e91c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54aa10-6afe-48ac-8945-ed155371d9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1a287c-e83d-46a5-8593-596ae72e91c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54aa10-6afe-48ac-8945-ed155371d90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838836-F3AA-4DF1-8B63-71D9FF062E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54aa10-6afe-48ac-8945-ed155371d902"/>
    <ds:schemaRef ds:uri="591a287c-e83d-46a5-8593-596ae72e91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C17931-8783-41EA-877C-76190435649B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b454aa10-6afe-48ac-8945-ed155371d902"/>
    <ds:schemaRef ds:uri="http://purl.org/dc/terms/"/>
    <ds:schemaRef ds:uri="591a287c-e83d-46a5-8593-596ae72e91ca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E5D5C22-83FD-46F9-9C7D-0620AD0542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0</TotalTime>
  <Words>1635</Words>
  <Application>Microsoft Office PowerPoint</Application>
  <PresentationFormat>Widescreen</PresentationFormat>
  <Paragraphs>168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Algerian</vt:lpstr>
      <vt:lpstr>Arial</vt:lpstr>
      <vt:lpstr>Calibri</vt:lpstr>
      <vt:lpstr>Century Schoolbook</vt:lpstr>
      <vt:lpstr>Wingdings</vt:lpstr>
      <vt:lpstr>Wingdings 2</vt:lpstr>
      <vt:lpstr>View</vt:lpstr>
      <vt:lpstr>Optimization of tree maintenance</vt:lpstr>
      <vt:lpstr>AGENDA</vt:lpstr>
      <vt:lpstr>OBJECTIVE</vt:lpstr>
      <vt:lpstr>METHODOLOGY </vt:lpstr>
      <vt:lpstr>EXPLORATORY Data ANALYSIS</vt:lpstr>
      <vt:lpstr>Data: Columns and Rows </vt:lpstr>
      <vt:lpstr>Data</vt:lpstr>
      <vt:lpstr>Calculating percentage of null values</vt:lpstr>
      <vt:lpstr>Removal of columns:</vt:lpstr>
      <vt:lpstr>Dropping all nan values in data</vt:lpstr>
      <vt:lpstr>Checking distinct values in each column</vt:lpstr>
      <vt:lpstr>Observations</vt:lpstr>
      <vt:lpstr>UNIVARIATE STATISTICAL Analysis </vt:lpstr>
      <vt:lpstr>Some descriptive statistical measures</vt:lpstr>
      <vt:lpstr>Some descriptive statistical measures</vt:lpstr>
      <vt:lpstr>Checking data for outliers</vt:lpstr>
      <vt:lpstr>Observations</vt:lpstr>
      <vt:lpstr>Function for univariate statistical analysis</vt:lpstr>
      <vt:lpstr>Analysis of height_m</vt:lpstr>
      <vt:lpstr>Observations for height_m:</vt:lpstr>
      <vt:lpstr>Analysis of circumference_cm</vt:lpstr>
      <vt:lpstr>Observations for circumference_cm:</vt:lpstr>
      <vt:lpstr>Handling Outliers</vt:lpstr>
      <vt:lpstr>Boxplot for circumference_cm after handling outliers</vt:lpstr>
      <vt:lpstr>Boxplot for height_m after handling outliers</vt:lpstr>
      <vt:lpstr>Feature Circumference_cm after handling outliers</vt:lpstr>
      <vt:lpstr>Feature height_m after handling outliers</vt:lpstr>
      <vt:lpstr>Descriptive analysis after handling outliers</vt:lpstr>
      <vt:lpstr>Coefficient of variation</vt:lpstr>
      <vt:lpstr>VISUALIZATIONS</vt:lpstr>
      <vt:lpstr>Pie chart for Domain &amp; Development_stage</vt:lpstr>
      <vt:lpstr>Region/Arrondissement with max number of trees</vt:lpstr>
      <vt:lpstr>Top 10 tree_type in data</vt:lpstr>
      <vt:lpstr>Top 10 tree_species in data</vt:lpstr>
      <vt:lpstr>PowerPoint Presentation</vt:lpstr>
      <vt:lpstr>PowerPoint Presentation</vt:lpstr>
      <vt:lpstr>Observation</vt:lpstr>
      <vt:lpstr>For all 8 domains (leaving Alignment)</vt:lpstr>
      <vt:lpstr>Obtaining the plot for 8 domains(leaving Alignment)</vt:lpstr>
      <vt:lpstr>PowerPoint Presentation</vt:lpstr>
      <vt:lpstr>PowerPoint Presentation</vt:lpstr>
      <vt:lpstr>For domain Alignment: counting trees according to development_stage</vt:lpstr>
      <vt:lpstr>For domain Alignment:Plot according to development_stage</vt:lpstr>
      <vt:lpstr>For domain Garden(trees according to arrondissement)</vt:lpstr>
      <vt:lpstr>Analysis based on tree_type </vt:lpstr>
      <vt:lpstr>Analysis of tree type Platanus </vt:lpstr>
      <vt:lpstr>Distribution of tree_type Platanus as per development_stage</vt:lpstr>
      <vt:lpstr>INFERENCE</vt:lpstr>
      <vt:lpstr>Propositions to Optimize City Tree Maintenance</vt:lpstr>
      <vt:lpstr>THANKS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Project-1</dc:title>
  <dc:creator>Jyoti JYOTI</dc:creator>
  <cp:lastModifiedBy>Harry Pabbi</cp:lastModifiedBy>
  <cp:revision>114</cp:revision>
  <dcterms:created xsi:type="dcterms:W3CDTF">2023-03-02T13:39:10Z</dcterms:created>
  <dcterms:modified xsi:type="dcterms:W3CDTF">2025-11-18T10:00:09Z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0x010100ED0D5B2C09C78542B5CB1BD779DAE4CE</vt:lpwstr>
  </property>
  <property fmtid="{D5CDD505-2E9C-101B-9397-08002B2CF9AE}" pid="3" name="MSIP_Label_8ffbc0b8-e97b-47d1-beac-cb0955d66f3b_Enabled">
    <vt:lpwstr>true</vt:lpwstr>
  </property>
  <property fmtid="{D5CDD505-2E9C-101B-9397-08002B2CF9AE}" pid="4" name="MSIP_Label_8ffbc0b8-e97b-47d1-beac-cb0955d66f3b_SetDate">
    <vt:lpwstr>2023-05-03T11:53:00Z</vt:lpwstr>
  </property>
  <property fmtid="{D5CDD505-2E9C-101B-9397-08002B2CF9AE}" pid="5" name="MSIP_Label_8ffbc0b8-e97b-47d1-beac-cb0955d66f3b_Method">
    <vt:lpwstr>Standard</vt:lpwstr>
  </property>
  <property fmtid="{D5CDD505-2E9C-101B-9397-08002B2CF9AE}" pid="6" name="MSIP_Label_8ffbc0b8-e97b-47d1-beac-cb0955d66f3b_Name">
    <vt:lpwstr>8ffbc0b8-e97b-47d1-beac-cb0955d66f3b</vt:lpwstr>
  </property>
  <property fmtid="{D5CDD505-2E9C-101B-9397-08002B2CF9AE}" pid="7" name="MSIP_Label_8ffbc0b8-e97b-47d1-beac-cb0955d66f3b_SiteId">
    <vt:lpwstr>614f9c25-bffa-42c7-86d8-964101f55fa2</vt:lpwstr>
  </property>
  <property fmtid="{D5CDD505-2E9C-101B-9397-08002B2CF9AE}" pid="8" name="MSIP_Label_8ffbc0b8-e97b-47d1-beac-cb0955d66f3b_ActionId">
    <vt:lpwstr>7e677634-f4b4-4b23-aa32-0146f22f46ce</vt:lpwstr>
  </property>
  <property fmtid="{D5CDD505-2E9C-101B-9397-08002B2CF9AE}" pid="9" name="MSIP_Label_8ffbc0b8-e97b-47d1-beac-cb0955d66f3b_ContentBits">
    <vt:lpwstr>2</vt:lpwstr>
  </property>
</Properties>
</file>